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6" d="100"/>
          <a:sy n="96" d="100"/>
        </p:scale>
        <p:origin x="96" y="58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67962D-818C-4028-88D4-E52678151953}" type="datetime1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 bwMode="auto"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22514" y="1"/>
            <a:ext cx="11266714" cy="514350"/>
          </a:xfrm>
        </p:spPr>
        <p:txBody>
          <a:bodyPr/>
          <a:lstStyle>
            <a:lvl1pPr marL="0">
              <a:defRPr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22513" y="653143"/>
            <a:ext cx="11266715" cy="5627341"/>
          </a:xfrm>
        </p:spPr>
        <p:txBody>
          <a:bodyPr/>
          <a:lstStyle>
            <a:lvl1pPr marL="91440" indent="-183600">
              <a:buClrTx/>
              <a:buFont typeface="Arial"/>
              <a:buChar char="•"/>
              <a:defRPr/>
            </a:lvl1pPr>
            <a:lvl2pPr marL="384048" indent="-182880">
              <a:buClrTx/>
              <a:buFont typeface="Arial"/>
              <a:buChar char="•"/>
              <a:defRPr/>
            </a:lvl2pPr>
            <a:lvl3pPr marL="566928" indent="-182880">
              <a:buClrTx/>
              <a:buFont typeface="Arial"/>
              <a:buChar char="•"/>
              <a:defRPr/>
            </a:lvl3pPr>
            <a:lvl4pPr marL="749808" indent="-182880">
              <a:buClrTx/>
              <a:buFont typeface="Arial"/>
              <a:buChar char="•"/>
              <a:defRPr/>
            </a:lvl4pPr>
            <a:lvl5pPr marL="932688" indent="-182880">
              <a:buClrTx/>
              <a:buFont typeface="Arial"/>
              <a:buChar char="•"/>
              <a:defRPr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EAB684-4F96-46EF-8977-696EED0182AE}" type="datetime1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Заголовок раздела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F298A1-6B4A-4787-B91F-877DC75697C7}" type="datetime1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 bwMode="auto"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097279" y="1845734"/>
            <a:ext cx="4937760" cy="40233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17920" y="1845735"/>
            <a:ext cx="4937760" cy="40233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89E4D15-AC69-4680-8B6F-0FA3A5032F97}" type="datetime1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 bwMode="auto">
          <a:xfrm>
            <a:off x="416379" y="0"/>
            <a:ext cx="11405506" cy="530679"/>
          </a:xfr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16379" y="661789"/>
            <a:ext cx="5618661" cy="530197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16379" y="1323096"/>
            <a:ext cx="5618661" cy="4637437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7098" y="661788"/>
            <a:ext cx="5644788" cy="530197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7098" y="1463827"/>
            <a:ext cx="5644787" cy="4496707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26539D9-162A-4704-AAD3-91A8CA082C00}" type="datetime1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2EECC7E-D792-4DB4-AD72-E00633C92E01}" type="datetime1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5C07D8-FB0F-48FC-8D87-BF2FD59F3EC0}" type="datetime1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594358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800600" y="731520"/>
            <a:ext cx="6492240" cy="525780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65512" y="6459785"/>
            <a:ext cx="2618509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D1F0E47-2CA4-45F4-8DB4-4776FA62E358}" type="datetime1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5" y="0"/>
            <a:ext cx="12191985" cy="4915076"/>
          </a:xfrm>
          <a:prstGeom prst="rect">
            <a:avLst/>
          </a:prstGeom>
          <a:blipFill>
            <a:blip r:embed="rId2"/>
            <a:stretch/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CEEBAF9-164A-4F73-84B7-D1A471B3689C}" type="datetime1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lIns="45720" tIns="0" rIns="45720" bIns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76A64DB-42D0-48B6-A36B-8822EC3C1362}" type="datetime1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414778"/>
            <a:ext cx="2628900" cy="5757421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25A2D9-EE5E-4993-BD9B-7BF2E437C08F}" type="datetime1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522514" y="0"/>
            <a:ext cx="11266714" cy="5465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22513" y="605506"/>
            <a:ext cx="11266715" cy="56716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F3516F4-A810-47E6-8A07-EA6AE1780760}" type="datetime1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686185" y="6459785"/>
            <a:ext cx="4822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 bwMode="auto">
          <a:xfrm>
            <a:off x="351064" y="585107"/>
            <a:ext cx="115443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1" hdr="0" sldNum="1"/>
  <p:txStyles>
    <p:titleStyle>
      <a:lvl1pPr algn="ctr" defTabSz="914400">
        <a:lnSpc>
          <a:spcPct val="85000"/>
        </a:lnSpc>
        <a:spcBef>
          <a:spcPts val="0"/>
        </a:spcBef>
        <a:buNone/>
        <a:defRPr sz="2600" spc="-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/>
        <a:buChar char=" 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097280" y="758951"/>
            <a:ext cx="10058400" cy="3500011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defRPr/>
            </a:pPr>
            <a:br>
              <a:rPr lang="ru-RU" sz="3200" b="1">
                <a:latin typeface="Arial"/>
                <a:cs typeface="Arial"/>
              </a:rPr>
            </a:br>
            <a:r>
              <a:rPr lang="ru-RU" sz="3200" b="1">
                <a:latin typeface="Arial"/>
                <a:cs typeface="Arial"/>
              </a:rPr>
              <a:t>Дискретная математика</a:t>
            </a:r>
            <a:br>
              <a:rPr lang="ru-RU" sz="3200" b="1">
                <a:latin typeface="Arial"/>
                <a:cs typeface="Arial"/>
              </a:rPr>
            </a:br>
            <a:r>
              <a:rPr lang="ru-RU" sz="5300" b="1">
                <a:latin typeface="Arial"/>
                <a:cs typeface="Arial"/>
              </a:rPr>
              <a:t>Логические исчисления</a:t>
            </a:r>
            <a:br>
              <a:rPr lang="ru-RU" sz="3200" b="1">
                <a:latin typeface="Arial"/>
                <a:cs typeface="Arial"/>
              </a:rPr>
            </a:br>
            <a:br>
              <a:rPr lang="ru-RU" sz="3200" b="1">
                <a:latin typeface="Arial"/>
                <a:cs typeface="Arial"/>
              </a:rPr>
            </a:br>
            <a:r>
              <a:rPr lang="ru-RU" sz="3200" b="1">
                <a:latin typeface="Arial"/>
                <a:cs typeface="Arial"/>
              </a:rPr>
              <a:t>Семинар №</a:t>
            </a:r>
            <a:r>
              <a:rPr lang="en-US" sz="3200" b="1">
                <a:latin typeface="Arial"/>
                <a:cs typeface="Arial"/>
              </a:rPr>
              <a:t>1</a:t>
            </a:r>
            <a:r>
              <a:rPr lang="en-US" sz="3200" b="1">
                <a:latin typeface="Arial"/>
                <a:cs typeface="Arial"/>
              </a:rPr>
              <a:t> </a:t>
            </a:r>
            <a:br>
              <a:rPr lang="en-US" sz="3200" b="1">
                <a:latin typeface="Arial"/>
                <a:cs typeface="Arial"/>
              </a:rPr>
            </a:br>
            <a:endParaRPr lang="ru-RU" sz="3200"/>
          </a:p>
        </p:txBody>
      </p:sp>
      <p:sp>
        <p:nvSpPr>
          <p:cNvPr id="4" name="TextBox 3"/>
          <p:cNvSpPr txBox="1"/>
          <p:nvPr/>
        </p:nvSpPr>
        <p:spPr bwMode="auto">
          <a:xfrm>
            <a:off x="7816111" y="4573693"/>
            <a:ext cx="33940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2400"/>
              <a:t>Семинарист: Зайцев В.С.</a:t>
            </a:r>
            <a:endParaRPr/>
          </a:p>
          <a:p>
            <a:pPr>
              <a:defRPr/>
            </a:pPr>
            <a:r>
              <a:rPr lang="en-US" sz="2400"/>
              <a:t>zvsmephi@gmail.com</a:t>
            </a:r>
            <a:endParaRPr lang="ru-RU" sz="2400"/>
          </a:p>
        </p:txBody>
      </p:sp>
      <p:sp>
        <p:nvSpPr>
          <p:cNvPr id="5" name="TextBox 4"/>
          <p:cNvSpPr txBox="1"/>
          <p:nvPr/>
        </p:nvSpPr>
        <p:spPr bwMode="auto">
          <a:xfrm>
            <a:off x="479442" y="389620"/>
            <a:ext cx="1129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/>
              <a:t>Национальный исследовательский ядерный университет «МИФИ»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Связь различных способов задания</a:t>
            </a:r>
            <a:r>
              <a:rPr lang="en-US"/>
              <a:t> </a:t>
            </a:r>
            <a:r>
              <a:rPr lang="ru-RU"/>
              <a:t>высказывательных функций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EAB684-4F96-46EF-8977-696EED0182AE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2759676" y="1383956"/>
            <a:ext cx="2430161" cy="1548713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/>
              <a:t>Логическая </a:t>
            </a:r>
            <a:endParaRPr/>
          </a:p>
          <a:p>
            <a:pPr algn="ctr">
              <a:defRPr/>
            </a:pPr>
            <a:r>
              <a:rPr lang="ru-RU"/>
              <a:t>функция</a:t>
            </a:r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 bwMode="auto">
          <a:xfrm>
            <a:off x="7427001" y="1383956"/>
            <a:ext cx="2430161" cy="1548713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/>
              <a:t>Таблицы истинности</a:t>
            </a:r>
            <a:endParaRPr lang="ru-RU"/>
          </a:p>
        </p:txBody>
      </p:sp>
      <p:sp>
        <p:nvSpPr>
          <p:cNvPr id="9" name="Двойная стрелка влево/вправо 8"/>
          <p:cNvSpPr/>
          <p:nvPr/>
        </p:nvSpPr>
        <p:spPr bwMode="auto">
          <a:xfrm>
            <a:off x="5189837" y="1915996"/>
            <a:ext cx="2237163" cy="484632"/>
          </a:xfrm>
          <a:prstGeom prst="left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1927654" y="782596"/>
            <a:ext cx="8756822" cy="24548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927654" y="3384072"/>
            <a:ext cx="8756822" cy="21023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TextBox 11"/>
          <p:cNvSpPr txBox="1"/>
          <p:nvPr/>
        </p:nvSpPr>
        <p:spPr bwMode="auto">
          <a:xfrm>
            <a:off x="1927654" y="3414230"/>
            <a:ext cx="1182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Синтаксис</a:t>
            </a:r>
            <a:endParaRPr lang="ru-RU"/>
          </a:p>
        </p:txBody>
      </p:sp>
      <p:sp>
        <p:nvSpPr>
          <p:cNvPr id="13" name="TextBox 12"/>
          <p:cNvSpPr txBox="1"/>
          <p:nvPr/>
        </p:nvSpPr>
        <p:spPr bwMode="auto">
          <a:xfrm>
            <a:off x="1927654" y="816376"/>
            <a:ext cx="124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Семантика</a:t>
            </a:r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 bwMode="auto">
          <a:xfrm>
            <a:off x="5090984" y="3783562"/>
            <a:ext cx="2430161" cy="1548713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/>
              <a:t>Формулы</a:t>
            </a:r>
            <a:endParaRPr lang="ru-RU"/>
          </a:p>
        </p:txBody>
      </p:sp>
      <p:sp>
        <p:nvSpPr>
          <p:cNvPr id="15" name="TextBox 14"/>
          <p:cNvSpPr txBox="1"/>
          <p:nvPr/>
        </p:nvSpPr>
        <p:spPr bwMode="auto">
          <a:xfrm>
            <a:off x="5460092" y="16666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1</a:t>
            </a:r>
            <a:endParaRPr lang="ru-RU"/>
          </a:p>
        </p:txBody>
      </p:sp>
      <p:sp>
        <p:nvSpPr>
          <p:cNvPr id="16" name="TextBox 15"/>
          <p:cNvSpPr txBox="1"/>
          <p:nvPr/>
        </p:nvSpPr>
        <p:spPr bwMode="auto">
          <a:xfrm>
            <a:off x="6920336" y="16729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1</a:t>
            </a:r>
            <a:endParaRPr lang="ru-RU"/>
          </a:p>
        </p:txBody>
      </p:sp>
      <p:sp>
        <p:nvSpPr>
          <p:cNvPr id="17" name="Стрелка вверх 16"/>
          <p:cNvSpPr/>
          <p:nvPr/>
        </p:nvSpPr>
        <p:spPr bwMode="auto">
          <a:xfrm>
            <a:off x="6063749" y="2266954"/>
            <a:ext cx="484632" cy="1502556"/>
          </a:xfrm>
          <a:prstGeom prst="up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" name="TextBox 17"/>
          <p:cNvSpPr txBox="1"/>
          <p:nvPr/>
        </p:nvSpPr>
        <p:spPr bwMode="auto">
          <a:xfrm>
            <a:off x="6535161" y="22973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19" name="TextBox 18"/>
          <p:cNvSpPr txBox="1"/>
          <p:nvPr/>
        </p:nvSpPr>
        <p:spPr bwMode="auto">
          <a:xfrm>
            <a:off x="6444755" y="3434124"/>
            <a:ext cx="16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бесконечность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Соотнесение</a:t>
            </a:r>
            <a:endParaRPr lang="ru-RU"/>
          </a:p>
        </p:txBody>
      </p:sp>
      <p:graphicFrame>
        <p:nvGraphicFramePr>
          <p:cNvPr id="7" name="Объект 6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>
          <a:off x="522287" y="652463"/>
          <a:ext cx="11266488" cy="4150196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633244"/>
                <a:gridCol w="5633244"/>
              </a:tblGrid>
              <a:tr h="106963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4400"/>
                        <a:t>Синтаксис</a:t>
                      </a:r>
                      <a:endParaRPr lang="ru-RU" sz="4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4400"/>
                        <a:t>Семантика</a:t>
                      </a:r>
                      <a:endParaRPr lang="ru-RU" sz="4400"/>
                    </a:p>
                  </a:txBody>
                  <a:tcPr/>
                </a:tc>
              </a:tr>
              <a:tr h="20109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4400"/>
                        <a:t>Пропозициональная формула</a:t>
                      </a:r>
                      <a:endParaRPr lang="ru-RU" sz="4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4400"/>
                        <a:t>Булева функция</a:t>
                      </a:r>
                      <a:endParaRPr lang="ru-RU" sz="4400"/>
                    </a:p>
                  </a:txBody>
                  <a:tcPr/>
                </a:tc>
              </a:tr>
              <a:tr h="106963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4400"/>
                        <a:t>Выводимая</a:t>
                      </a:r>
                      <a:r>
                        <a:rPr lang="ru-RU" sz="4400"/>
                        <a:t> формула</a:t>
                      </a:r>
                      <a:endParaRPr lang="ru-RU" sz="4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4400"/>
                        <a:t>Тавтология</a:t>
                      </a:r>
                      <a:endParaRPr lang="ru-RU" sz="4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EAB684-4F96-46EF-8977-696EED0182AE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Формальная (дедуктивная система)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EAB684-4F96-46EF-8977-696EED0182AE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4623104" y="2927974"/>
            <a:ext cx="2899718" cy="1408670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3600" b="1"/>
              <a:t>Формальная теория</a:t>
            </a:r>
            <a:endParaRPr lang="ru-RU" sz="3600" b="1"/>
          </a:p>
        </p:txBody>
      </p:sp>
      <p:sp>
        <p:nvSpPr>
          <p:cNvPr id="8" name="Овал 7"/>
          <p:cNvSpPr/>
          <p:nvPr/>
        </p:nvSpPr>
        <p:spPr bwMode="auto">
          <a:xfrm>
            <a:off x="8973065" y="1087655"/>
            <a:ext cx="2380735" cy="1194486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>
                <a:solidFill>
                  <a:schemeClr val="bg1"/>
                </a:solidFill>
              </a:rPr>
              <a:t>Алфавит</a:t>
            </a:r>
            <a:endParaRPr lang="ru-RU" sz="2800">
              <a:solidFill>
                <a:schemeClr val="bg1"/>
              </a:solidFill>
            </a:endParaRPr>
          </a:p>
        </p:txBody>
      </p:sp>
      <p:sp>
        <p:nvSpPr>
          <p:cNvPr id="9" name="Овал 8"/>
          <p:cNvSpPr/>
          <p:nvPr/>
        </p:nvSpPr>
        <p:spPr bwMode="auto">
          <a:xfrm>
            <a:off x="838200" y="4982477"/>
            <a:ext cx="2380735" cy="11944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/>
              <a:t>Аксиомы</a:t>
            </a:r>
            <a:endParaRPr lang="ru-RU" sz="2800"/>
          </a:p>
        </p:txBody>
      </p:sp>
      <p:sp>
        <p:nvSpPr>
          <p:cNvPr id="10" name="Овал 9"/>
          <p:cNvSpPr/>
          <p:nvPr/>
        </p:nvSpPr>
        <p:spPr bwMode="auto">
          <a:xfrm>
            <a:off x="838198" y="1087655"/>
            <a:ext cx="2380735" cy="11944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>
                <a:solidFill>
                  <a:schemeClr val="tx1"/>
                </a:solidFill>
              </a:rPr>
              <a:t>Правила вывода</a:t>
            </a:r>
            <a:endParaRPr lang="ru-RU" sz="2800">
              <a:solidFill>
                <a:schemeClr val="tx1"/>
              </a:solidFill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8973064" y="4982477"/>
            <a:ext cx="2380735" cy="119448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/>
              <a:t>Формулы</a:t>
            </a:r>
            <a:endParaRPr lang="ru-RU" sz="2800"/>
          </a:p>
        </p:txBody>
      </p:sp>
      <p:sp>
        <p:nvSpPr>
          <p:cNvPr id="12" name="Стрелка вправо 11"/>
          <p:cNvSpPr/>
          <p:nvPr/>
        </p:nvSpPr>
        <p:spPr bwMode="auto">
          <a:xfrm rot="1947194">
            <a:off x="2948432" y="2496633"/>
            <a:ext cx="1620652" cy="345989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2800"/>
          </a:p>
        </p:txBody>
      </p:sp>
      <p:sp>
        <p:nvSpPr>
          <p:cNvPr id="13" name="Стрелка вправо 12"/>
          <p:cNvSpPr/>
          <p:nvPr/>
        </p:nvSpPr>
        <p:spPr bwMode="auto">
          <a:xfrm rot="20037411">
            <a:off x="2975826" y="4562599"/>
            <a:ext cx="1620652" cy="345989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2800"/>
          </a:p>
        </p:txBody>
      </p:sp>
      <p:sp>
        <p:nvSpPr>
          <p:cNvPr id="14" name="Стрелка вправо 13"/>
          <p:cNvSpPr/>
          <p:nvPr/>
        </p:nvSpPr>
        <p:spPr bwMode="auto">
          <a:xfrm rot="12731961">
            <a:off x="7538339" y="4629581"/>
            <a:ext cx="1620652" cy="345989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2800"/>
          </a:p>
        </p:txBody>
      </p:sp>
      <p:sp>
        <p:nvSpPr>
          <p:cNvPr id="15" name="Стрелка вправо 14"/>
          <p:cNvSpPr/>
          <p:nvPr/>
        </p:nvSpPr>
        <p:spPr bwMode="auto">
          <a:xfrm rot="8763667">
            <a:off x="7565456" y="2443475"/>
            <a:ext cx="1620652" cy="345989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Выражения, формулы и аксиомы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Выражения – все возможные произвольные последовательности символов из данного алфавита.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EAB684-4F96-46EF-8977-696EED0182AE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  <p:sp>
        <p:nvSpPr>
          <p:cNvPr id="7" name="Овал 6"/>
          <p:cNvSpPr/>
          <p:nvPr/>
        </p:nvSpPr>
        <p:spPr bwMode="auto">
          <a:xfrm>
            <a:off x="2553032" y="1827483"/>
            <a:ext cx="5955957" cy="32786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Овал 8"/>
          <p:cNvSpPr/>
          <p:nvPr/>
        </p:nvSpPr>
        <p:spPr bwMode="auto">
          <a:xfrm>
            <a:off x="3292028" y="2356022"/>
            <a:ext cx="4476253" cy="22078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Овал 9"/>
          <p:cNvSpPr/>
          <p:nvPr/>
        </p:nvSpPr>
        <p:spPr bwMode="auto">
          <a:xfrm>
            <a:off x="4273883" y="2820141"/>
            <a:ext cx="2512541" cy="12933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TextBox 10"/>
          <p:cNvSpPr txBox="1"/>
          <p:nvPr/>
        </p:nvSpPr>
        <p:spPr bwMode="auto">
          <a:xfrm>
            <a:off x="4739039" y="3235978"/>
            <a:ext cx="1582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2400">
                <a:solidFill>
                  <a:schemeClr val="bg1"/>
                </a:solidFill>
              </a:rPr>
              <a:t>АКСИОМЫ</a:t>
            </a:r>
            <a:endParaRPr lang="ru-RU" sz="240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4600796" y="1860920"/>
            <a:ext cx="1858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2400">
                <a:solidFill>
                  <a:schemeClr val="bg1"/>
                </a:solidFill>
              </a:rPr>
              <a:t>ВЫРАЖЕНИЯ</a:t>
            </a:r>
            <a:endParaRPr lang="ru-RU" sz="240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4739039" y="2410007"/>
            <a:ext cx="1586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2400">
                <a:solidFill>
                  <a:schemeClr val="bg1"/>
                </a:solidFill>
              </a:rPr>
              <a:t>Ф</a:t>
            </a:r>
            <a:r>
              <a:rPr lang="ru-RU" sz="2400">
                <a:solidFill>
                  <a:schemeClr val="bg1"/>
                </a:solidFill>
              </a:rPr>
              <a:t>ОРМУЛЫ</a:t>
            </a:r>
            <a:endParaRPr lang="ru-RU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Пропозициональное исчисление </a:t>
            </a:r>
            <a:r>
              <a:rPr lang="en-US"/>
              <a:t>P</a:t>
            </a:r>
            <a:r>
              <a:rPr lang="ru-RU" baseline="-25000"/>
              <a:t>1</a:t>
            </a:r>
            <a:r>
              <a:rPr lang="ru-RU"/>
              <a:t>: исходный базис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47500" lnSpcReduction="20000"/>
          </a:bodyPr>
          <a:lstStyle/>
          <a:p>
            <a:pPr marL="0" indent="0">
              <a:buNone/>
              <a:defRPr/>
            </a:pPr>
            <a:r>
              <a:rPr lang="ru-RU" sz="4200" b="1"/>
              <a:t>Множество символов</a:t>
            </a:r>
            <a:r>
              <a:rPr lang="ru-RU" sz="4200"/>
              <a:t>: </a:t>
            </a:r>
            <a:r>
              <a:rPr lang="en-US" sz="4200"/>
              <a:t>f (</a:t>
            </a:r>
            <a:r>
              <a:rPr lang="ru-RU" sz="4200"/>
              <a:t>константа</a:t>
            </a:r>
            <a:r>
              <a:rPr lang="en-US" sz="4200"/>
              <a:t>)</a:t>
            </a:r>
            <a:r>
              <a:rPr lang="ru-RU" sz="4200"/>
              <a:t>,</a:t>
            </a:r>
            <a:r>
              <a:rPr lang="en-US" sz="4200"/>
              <a:t> x</a:t>
            </a:r>
            <a:r>
              <a:rPr lang="en-US" sz="4200" baseline="-25000"/>
              <a:t>1</a:t>
            </a:r>
            <a:r>
              <a:rPr lang="en-US" sz="4200"/>
              <a:t>, x</a:t>
            </a:r>
            <a:r>
              <a:rPr lang="en-US" sz="4200" baseline="-25000"/>
              <a:t>2</a:t>
            </a:r>
            <a:r>
              <a:rPr lang="en-US" sz="4200"/>
              <a:t>, x</a:t>
            </a:r>
            <a:r>
              <a:rPr lang="en-US" sz="4200" baseline="-25000"/>
              <a:t>3 </a:t>
            </a:r>
            <a:r>
              <a:rPr lang="en-US" sz="4200"/>
              <a:t>… </a:t>
            </a:r>
            <a:r>
              <a:rPr lang="ru-RU" sz="4200"/>
              <a:t>(переменные), </a:t>
            </a:r>
            <a:r>
              <a:rPr lang="el-GR" sz="4200"/>
              <a:t>⊃</a:t>
            </a:r>
            <a:r>
              <a:rPr lang="ru-RU" sz="4200"/>
              <a:t>  (связки)</a:t>
            </a:r>
            <a:endParaRPr lang="ru-RU" sz="4200" baseline="-25000"/>
          </a:p>
          <a:p>
            <a:pPr marL="0" indent="0">
              <a:buNone/>
              <a:defRPr/>
            </a:pPr>
            <a:r>
              <a:rPr lang="ru-RU" sz="4200" b="1"/>
              <a:t>Правильно построенные формулы</a:t>
            </a:r>
            <a:r>
              <a:rPr lang="ru-RU" sz="4200"/>
              <a:t>:</a:t>
            </a:r>
            <a:endParaRPr lang="en-US" sz="4200"/>
          </a:p>
          <a:p>
            <a:pPr marL="457200" indent="-457200">
              <a:buAutoNum type="arabicPeriod"/>
              <a:defRPr/>
            </a:pPr>
            <a:r>
              <a:rPr lang="ru-RU" sz="4200"/>
              <a:t>𝑓 </a:t>
            </a:r>
            <a:r>
              <a:rPr lang="ru-RU" sz="4200"/>
              <a:t>- формула </a:t>
            </a:r>
            <a:endParaRPr lang="ru-RU" sz="4200"/>
          </a:p>
          <a:p>
            <a:pPr marL="457200" indent="-457200">
              <a:buAutoNum type="arabicPeriod"/>
              <a:defRPr/>
            </a:pPr>
            <a:r>
              <a:rPr lang="ru-RU" sz="4200"/>
              <a:t>если </a:t>
            </a:r>
            <a:r>
              <a:rPr lang="ru-RU" sz="4200"/>
              <a:t>𝑥 – переменная, то 𝑥 – формула </a:t>
            </a:r>
            <a:endParaRPr lang="ru-RU" sz="4200"/>
          </a:p>
          <a:p>
            <a:pPr marL="457200" indent="-457200">
              <a:buAutoNum type="arabicPeriod"/>
              <a:defRPr/>
            </a:pPr>
            <a:r>
              <a:rPr lang="ru-RU" sz="4200"/>
              <a:t>если </a:t>
            </a:r>
            <a:r>
              <a:rPr lang="el-GR" sz="4200"/>
              <a:t>Γ </a:t>
            </a:r>
            <a:r>
              <a:rPr lang="ru-RU" sz="4200"/>
              <a:t>и </a:t>
            </a:r>
            <a:r>
              <a:rPr lang="el-GR" sz="4200"/>
              <a:t>Δ – </a:t>
            </a:r>
            <a:r>
              <a:rPr lang="ru-RU" sz="4200"/>
              <a:t>формулы, то (</a:t>
            </a:r>
            <a:r>
              <a:rPr lang="el-GR" sz="4200"/>
              <a:t>Γ ⊃ Δ) – </a:t>
            </a:r>
            <a:r>
              <a:rPr lang="ru-RU" sz="4200"/>
              <a:t>формула </a:t>
            </a:r>
            <a:endParaRPr lang="en-US" sz="4200"/>
          </a:p>
          <a:p>
            <a:pPr marL="0" indent="0">
              <a:buNone/>
              <a:defRPr/>
            </a:pPr>
            <a:r>
              <a:rPr lang="ru-RU" sz="4200"/>
              <a:t>В </a:t>
            </a:r>
            <a:r>
              <a:rPr lang="ru-RU" sz="4200"/>
              <a:t>формуле </a:t>
            </a:r>
            <a:r>
              <a:rPr lang="el-GR" sz="4200"/>
              <a:t>Γ ⊃ Δ: – Γ </a:t>
            </a:r>
            <a:r>
              <a:rPr lang="ru-RU" sz="4200"/>
              <a:t>называется антецедентом, или посылкой – </a:t>
            </a:r>
            <a:r>
              <a:rPr lang="el-GR" sz="4200"/>
              <a:t>Δ </a:t>
            </a:r>
            <a:r>
              <a:rPr lang="ru-RU" sz="4200"/>
              <a:t>называется </a:t>
            </a:r>
            <a:r>
              <a:rPr lang="ru-RU" sz="4200"/>
              <a:t>консеквентом</a:t>
            </a:r>
            <a:r>
              <a:rPr lang="ru-RU" sz="4200"/>
              <a:t>, или заключением – ⊃ называется главным символов импликации </a:t>
            </a:r>
            <a:endParaRPr lang="en-US" sz="4200"/>
          </a:p>
          <a:p>
            <a:pPr marL="0" indent="0">
              <a:buNone/>
              <a:defRPr/>
            </a:pPr>
            <a:endParaRPr lang="ru-RU" sz="4200"/>
          </a:p>
          <a:p>
            <a:pPr marL="0" indent="0">
              <a:buNone/>
              <a:defRPr/>
            </a:pPr>
            <a:r>
              <a:rPr lang="ru-RU" sz="4200"/>
              <a:t>Метаоперация</a:t>
            </a:r>
            <a:r>
              <a:rPr lang="ru-RU" sz="42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4200">
                          <a:latin typeface="Cambria Math"/>
                        </a:rPr>
                        <m:t>[</m:t>
                      </m:r>
                      <m:f>
                        <m:fPr>
                          <m:type m:val="skw"/>
                          <m:ctrlPr>
                            <a:rPr lang="ru-RU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4200" b="0" i="1">
                              <a:latin typeface="Cambria Math"/>
                            </a:rPr>
                            <m:t>𝐵</m:t>
                          </m:r>
                        </m:num>
                        <m:den>
                          <m:r>
                            <m:rPr/>
                            <a:rPr lang="en-US" sz="4200" b="0" i="1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m:rPr/>
                        <a:rPr lang="en-US" sz="4200" b="0" i="1">
                          <a:latin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r>
              <a:rPr lang="el-GR" sz="4200"/>
              <a:t> </a:t>
            </a:r>
            <a:r>
              <a:rPr lang="el-GR" sz="4200"/>
              <a:t>𝐴 – </a:t>
            </a:r>
            <a:r>
              <a:rPr lang="ru-RU" sz="4200"/>
              <a:t>подстановка (формулы 𝐵 вместо всех свободных вхождений переменной 𝑥 в формулу 𝐴): </a:t>
            </a:r>
            <a:endParaRPr lang="en-US" sz="4200"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4200">
                          <a:latin typeface="Cambria Math"/>
                        </a:rPr>
                        <m:t>[</m:t>
                      </m:r>
                      <m:f>
                        <m:fPr>
                          <m:type m:val="skw"/>
                          <m:ctrlPr>
                            <a:rPr lang="ru-RU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4200" i="1">
                              <a:latin typeface="Cambria Math"/>
                            </a:rPr>
                            <m:t>𝐵</m:t>
                          </m:r>
                        </m:num>
                        <m:den>
                          <m:r>
                            <m:rPr/>
                            <a:rPr lang="en-US" sz="4200" i="1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m:rPr/>
                        <a:rPr lang="en-US" sz="4200" i="1">
                          <a:latin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r>
              <a:rPr lang="el-GR" sz="4200"/>
              <a:t> </a:t>
            </a:r>
            <a:r>
              <a:rPr lang="el-GR" sz="4200"/>
              <a:t>𝑓 = </a:t>
            </a:r>
            <a:r>
              <a:rPr lang="el-GR" sz="4200"/>
              <a:t>𝑓</a:t>
            </a:r>
            <a:r>
              <a:rPr lang="en-US" sz="4200"/>
              <a:t>		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4200">
                          <a:latin typeface="Cambria Math"/>
                        </a:rPr>
                        <m:t>[</m:t>
                      </m:r>
                      <m:f>
                        <m:fPr>
                          <m:type m:val="skw"/>
                          <m:ctrlPr>
                            <a:rPr lang="ru-RU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4200" i="1">
                              <a:latin typeface="Cambria Math"/>
                            </a:rPr>
                            <m:t>𝐵</m:t>
                          </m:r>
                        </m:num>
                        <m:den>
                          <m:r>
                            <m:rPr/>
                            <a:rPr lang="en-US" sz="4200" i="1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m:rPr/>
                        <a:rPr lang="en-US" sz="4200" i="1">
                          <a:latin typeface="Cambria Math"/>
                        </a:rPr>
                        <m:t>]</m:t>
                      </m:r>
                      <m:r>
                        <m:rPr>
                          <m:nor m:val="on"/>
                        </m:rPr>
                        <a:rPr lang="el-GR" sz="4200"/>
                        <m:t> </m:t>
                      </m:r>
                      <m:r>
                        <m:rPr>
                          <m:nor m:val="on"/>
                        </m:rPr>
                        <a:rPr lang="en-US" sz="4200" b="0" i="0"/>
                        <m:t>y</m:t>
                      </m:r>
                      <m:r>
                        <m:rPr>
                          <m:nor m:val="on"/>
                        </m:rPr>
                        <a:rPr lang="el-GR" sz="4200"/>
                        <m:t> = </m:t>
                      </m:r>
                      <m:d>
                        <m:dPr>
                          <m:begChr m:val="{"/>
                          <m:endChr m:val=""/>
                          <m:ctrlPr>
                            <a:rPr lang="el-GR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  <m:maxDist m:val="off"/>
                              <m:objDist m:val="off"/>
                              <m:rSp/>
                              <m:rSpRule/>
                              <m:ctrlPr>
                                <a:rPr lang="el-GR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eqArrPr>
                            <m:e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𝐵</m:t>
                              </m:r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, </m:t>
                              </m:r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𝑥</m:t>
                              </m:r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=</m:t>
                              </m:r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𝑦</m:t>
                              </m:r>
                            </m:e>
                            <m:e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𝑦</m:t>
                              </m:r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, </m:t>
                              </m:r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𝑥</m:t>
                              </m:r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≠</m:t>
                              </m:r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𝑦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4200"/>
              <a:t>		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𝐵</m:t>
                              </m:r>
                            </m:num>
                            <m:den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m:rPr>
                          <m:nor m:val="on"/>
                        </m:rPr>
                        <a:rPr lang="el-GR" sz="4200"/>
                        <m:t> </m:t>
                      </m:r>
                      <m:r>
                        <m:rPr>
                          <m:nor m:val="on"/>
                        </m:rPr>
                        <a:rPr lang="en-US" sz="4200" b="0" i="0"/>
                        <m:t>(</m:t>
                      </m:r>
                      <m:r>
                        <m:rPr>
                          <m:nor m:val="on"/>
                        </m:rPr>
                        <a:rPr lang="en-US" sz="4200" b="0" i="0"/>
                        <m:t>A</m:t>
                      </m:r>
                      <m:r>
                        <m:rPr>
                          <m:nor m:val="on"/>
                        </m:rPr>
                        <a:rPr lang="en-US" sz="4200" b="0" i="0"/>
                        <m:t> ⊃ </m:t>
                      </m:r>
                      <m:r>
                        <m:rPr>
                          <m:nor m:val="on"/>
                        </m:rPr>
                        <a:rPr lang="en-US" sz="4200" b="0" i="0"/>
                        <m:t>B</m:t>
                      </m:r>
                      <m:r>
                        <m:rPr>
                          <m:nor m:val="on"/>
                        </m:rPr>
                        <a:rPr lang="en-US" sz="4200" b="0" i="0"/>
                        <m:t>)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2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𝐵</m:t>
                              </m:r>
                            </m:num>
                            <m:den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m:rPr/>
                        <a:rPr lang="en-US" sz="4200" b="0" i="1">
                          <a:latin typeface="Cambria Math"/>
                        </a:rPr>
                        <m:t>𝐴</m:t>
                      </m:r>
                      <m:r>
                        <m:rPr>
                          <m:nor m:val="on"/>
                        </m:rPr>
                        <a:rPr lang="en-US" sz="4200"/>
                        <m:t>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𝐵</m:t>
                              </m:r>
                            </m:num>
                            <m:den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m:rPr/>
                        <a:rPr lang="en-US" sz="4200" b="0" i="1">
                          <a:latin typeface="Cambria Math"/>
                        </a:rPr>
                        <m:t>𝐵</m:t>
                      </m:r>
                    </m:oMath>
                  </m:oMathPara>
                </a14:m>
              </mc:Choice>
              <mc:Fallback/>
            </mc:AlternateContent>
            <a:endParaRPr lang="en-US" sz="4200"/>
          </a:p>
          <a:p>
            <a:pPr marL="0" indent="0">
              <a:buNone/>
              <a:defRPr/>
            </a:pPr>
            <a:r>
              <a:rPr lang="ru-RU" sz="4200"/>
              <a:t>Одновременная подстановка</a:t>
            </a:r>
            <a:r>
              <a:rPr lang="ru-RU" sz="4200"/>
              <a:t>:</a:t>
            </a:r>
            <a:r>
              <a:rPr lang="en-US" sz="42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4200" b="0" i="1">
                          <a:latin typeface="Cambria Math"/>
                        </a:rPr>
                        <m:t>𝐶</m:t>
                      </m:r>
                      <m:r>
                        <m:rPr/>
                        <a:rPr lang="en-US" sz="4200" b="0" i="0">
                          <a:latin typeface="Cambria Math"/>
                        </a:rPr>
                        <m:t>= </m:t>
                      </m:r>
                      <m:r>
                        <m:rPr/>
                        <a:rPr lang="en-US" sz="4200">
                          <a:latin typeface="Cambria Math"/>
                        </a:rPr>
                        <m:t>[</m:t>
                      </m:r>
                      <m:f>
                        <m:fPr>
                          <m:type m:val="skw"/>
                          <m:ctrlPr>
                            <a:rPr lang="ru-RU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US" sz="4200" b="0" i="1">
                          <a:latin typeface="Cambria Math"/>
                        </a:rPr>
                        <m:t> …</m:t>
                      </m:r>
                      <m:f>
                        <m:fPr>
                          <m:type m:val="skw"/>
                          <m:ctrlPr>
                            <a:rPr lang="ru-RU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US" sz="4200" i="1">
                          <a:latin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r>
              <a:rPr lang="el-GR" sz="4200"/>
              <a:t> </a:t>
            </a:r>
            <a:r>
              <a:rPr lang="en-US" sz="4200"/>
              <a:t>A</a:t>
            </a:r>
            <a:endParaRPr/>
          </a:p>
          <a:p>
            <a:pPr marL="0" indent="0">
              <a:buNone/>
              <a:defRPr/>
            </a:pPr>
            <a:r>
              <a:rPr lang="en-US" sz="4200"/>
              <a:t>1.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4200">
                          <a:latin typeface="Cambria Math"/>
                        </a:rPr>
                        <m:t>A</m:t>
                      </m:r>
                      <m:r>
                        <m:rPr/>
                        <a:rPr lang="en-US" sz="4200" b="0" i="0">
                          <a:latin typeface="Cambria Math"/>
                        </a:rPr>
                        <m:t>′</m:t>
                      </m:r>
                      <m:r>
                        <m:rPr/>
                        <a:rPr lang="en-US" sz="4200">
                          <a:latin typeface="Cambria Math"/>
                        </a:rPr>
                        <m:t>= [</m:t>
                      </m:r>
                      <m:f>
                        <m:fPr>
                          <m:type m:val="skw"/>
                          <m:ctrlPr>
                            <a:rPr lang="ru-RU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US" sz="4200" i="1">
                          <a:latin typeface="Cambria Math"/>
                        </a:rPr>
                        <m:t> …</m:t>
                      </m:r>
                      <m:f>
                        <m:fPr>
                          <m:type m:val="skw"/>
                          <m:ctrlPr>
                            <a:rPr lang="ru-RU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US" sz="4200" i="1">
                          <a:latin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r>
              <a:rPr lang="el-GR" sz="4200"/>
              <a:t> </a:t>
            </a:r>
            <a:r>
              <a:rPr lang="en-US" sz="4200"/>
              <a:t>A,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4200" b="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m:rPr/>
                            <a:rPr lang="en-US" sz="4200" b="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m:rPr/>
                        <a:rPr lang="en-US" sz="4200" i="1">
                          <a:latin typeface="Cambria Math"/>
                        </a:rPr>
                        <m:t>∉</m:t>
                      </m:r>
                      <m:r>
                        <m:rPr/>
                        <a:rPr lang="en-US" sz="4200" b="0" i="1">
                          <a:latin typeface="Cambria Math"/>
                        </a:rPr>
                        <m:t>𝐹𝑉</m:t>
                      </m:r>
                      <m:d>
                        <m:dPr>
                          <m:ctrlPr>
                            <a:rPr lang="en-US" sz="42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2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4200" b="0" i="1">
                          <a:latin typeface="Cambria Math"/>
                        </a:rPr>
                        <m:t>, </m:t>
                      </m:r>
                      <m:r>
                        <m:rPr/>
                        <a:rPr lang="en-US" sz="4200" b="0" i="1">
                          <a:latin typeface="Cambria Math"/>
                        </a:rPr>
                        <m:t>𝑖</m:t>
                      </m:r>
                      <m:r>
                        <m:rPr/>
                        <a:rPr lang="en-US" sz="4200" b="0" i="1">
                          <a:latin typeface="Cambria Math"/>
                        </a:rPr>
                        <m:t>= </m:t>
                      </m:r>
                      <m:acc>
                        <m:accPr>
                          <m:chr m:val="̅"/>
                          <m:ctrlPr>
                            <a:rPr lang="en-US" sz="42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en-US" sz="4200" b="0" i="1">
                              <a:latin typeface="Cambria Math"/>
                            </a:rPr>
                            <m:t>1…</m:t>
                          </m:r>
                          <m:r>
                            <m:rPr/>
                            <a:rPr lang="en-US" sz="4200" b="0" i="1">
                              <a:latin typeface="Cambria Math"/>
                            </a:rPr>
                            <m:t>𝑛</m:t>
                          </m:r>
                          <m:r>
                            <m:rPr/>
                            <a:rPr lang="en-US" sz="4200" b="0" i="1">
                              <a:latin typeface="Cambria Math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</mc:Choice>
              <mc:Fallback/>
            </mc:AlternateContent>
            <a:r>
              <a:rPr lang="en-US" sz="4200"/>
              <a:t>, </a:t>
            </a:r>
            <a:r>
              <a:rPr lang="en-US" sz="4200" i="1">
                <a:ea typeface="Cambria Math"/>
              </a:rPr>
              <a:t>j</a:t>
            </a:r>
            <a:r>
              <a:rPr lang="en-US" sz="4200"/>
              <a:t>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̅"/>
                          <m:ctrlPr>
                            <a:rPr lang="en-US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en-US" sz="4200" i="1">
                              <a:latin typeface="Cambria Math"/>
                            </a:rPr>
                            <m:t>1…</m:t>
                          </m:r>
                          <m:r>
                            <m:rPr/>
                            <a:rPr lang="en-US" sz="4200" i="1">
                              <a:latin typeface="Cambria Math"/>
                            </a:rPr>
                            <m:t>𝑛</m:t>
                          </m:r>
                          <m:r>
                            <m:rPr/>
                            <a:rPr lang="en-US" sz="4200" i="1">
                              <a:latin typeface="Cambria Math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</mc:Choice>
              <mc:Fallback/>
            </mc:AlternateContent>
            <a:endParaRPr lang="en-US" sz="4200"/>
          </a:p>
          <a:p>
            <a:pPr marL="0" indent="0">
              <a:buNone/>
              <a:defRPr/>
            </a:pPr>
            <a:r>
              <a:rPr lang="en-US" sz="4200"/>
              <a:t>2.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4200" b="0" i="1">
                          <a:latin typeface="Cambria Math"/>
                        </a:rPr>
                        <m:t>𝐶</m:t>
                      </m:r>
                      <m:r>
                        <m:rPr/>
                        <a:rPr lang="en-US" sz="4200" b="0" i="1">
                          <a:latin typeface="Cambria Math"/>
                        </a:rPr>
                        <m:t>= </m:t>
                      </m:r>
                      <m:r>
                        <m:rPr/>
                        <a:rPr lang="en-US" sz="4200">
                          <a:latin typeface="Cambria Math"/>
                        </a:rPr>
                        <m:t>[</m:t>
                      </m:r>
                      <m:f>
                        <m:fPr>
                          <m:type m:val="skw"/>
                          <m:ctrlPr>
                            <a:rPr lang="ru-RU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US" sz="4200" i="1">
                          <a:latin typeface="Cambria Math"/>
                        </a:rPr>
                        <m:t> …</m:t>
                      </m:r>
                      <m:f>
                        <m:fPr>
                          <m:type m:val="skw"/>
                          <m:ctrlPr>
                            <a:rPr lang="ru-RU" sz="4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4200" b="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m:rPr/>
                                <a:rPr lang="en-US" sz="42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US" sz="4200" i="1">
                          <a:latin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r>
              <a:rPr lang="el-GR" sz="4200"/>
              <a:t> </a:t>
            </a:r>
            <a:r>
              <a:rPr lang="en-US" sz="4200"/>
              <a:t>A’</a:t>
            </a:r>
            <a:endParaRPr lang="en-US" sz="4200"/>
          </a:p>
          <a:p>
            <a:pPr marL="0" indent="0">
              <a:buNone/>
              <a:defRPr/>
            </a:pPr>
            <a:endParaRPr lang="en-US" sz="510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FEFBBC3-5193-4567-8E51-380ADA1F2998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Исчисление </a:t>
            </a:r>
            <a:r>
              <a:rPr lang="en-US"/>
              <a:t>P</a:t>
            </a:r>
            <a:r>
              <a:rPr lang="ru-RU" baseline="-25000"/>
              <a:t>1 </a:t>
            </a:r>
            <a:r>
              <a:rPr lang="ru-RU"/>
              <a:t>: </a:t>
            </a:r>
            <a:r>
              <a:rPr lang="ru-RU"/>
              <a:t>постулаты и определения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577AA5-CD60-4775-B515-38F1E76C482C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96949" y="693652"/>
            <a:ext cx="10201275" cy="39814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47824" y="4675102"/>
            <a:ext cx="6499526" cy="15911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Подстановка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457200">
              <a:buAutoNum type="arabicParenR"/>
              <a:defRPr/>
            </a:pPr>
            <a:r>
              <a:rPr lang="ru-RU"/>
              <a:t>Вместо переменной можно подставить любую правильно построенную формулу.</a:t>
            </a:r>
            <a:endParaRPr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𝑞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  ( 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𝑓</m:t>
                              </m:r>
                              <m:r>
                                <m:rPr>
                                  <m:nor m:val="on"/>
                                </m:rPr>
                                <a:rPr lang="en-US" b="0" i="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  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)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b="0" i="0">
                          <a:latin typeface="Cambria Math"/>
                        </a:rPr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(q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p)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𝑞</m:t>
                          </m:r>
                          <m:r>
                            <m:rPr>
                              <m:nor m:val="on"/>
                            </m:rPr>
                            <a:rPr lang="en-US"/>
                            <m:t>⊃</m:t>
                          </m:r>
                          <m:r>
                            <m:rPr/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US" i="1">
                              <a:latin typeface="Cambria Math"/>
                            </a:rPr>
                            <m:t>𝑝</m:t>
                          </m:r>
                          <m:r>
                            <m:rPr>
                              <m:nor m:val="on"/>
                            </m:rPr>
                            <a:rPr lang="en-US"/>
                            <m:t>⊃</m:t>
                          </m:r>
                          <m:r>
                            <m:rPr/>
                            <a:rPr lang="en-US" i="1">
                              <a:latin typeface="Cambria Math"/>
                            </a:rPr>
                            <m:t>  </m:t>
                          </m:r>
                          <m:d>
                            <m:dPr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  <m:r>
                                <m:rPr>
                                  <m:nor m:val="on"/>
                                </m:rPr>
                                <a:rPr lang="en-US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 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(q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</a:t>
            </a:r>
            <a:r>
              <a:rPr lang="en-US"/>
              <a:t>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𝑞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  <m:r>
                        <m:rPr/>
                        <a:rPr lang="en-US" i="1">
                          <a:latin typeface="Cambria Math"/>
                        </a:rPr>
                        <m:t>𝑝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 ( </m:t>
                      </m:r>
                      <m:r>
                        <m:rPr/>
                        <a:rPr lang="en-US" i="1">
                          <a:latin typeface="Cambria Math"/>
                        </a:rPr>
                        <m:t>𝑓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 </m:t>
                      </m:r>
                      <m:r>
                        <m:rPr/>
                        <a:rPr lang="en-US" i="1">
                          <a:latin typeface="Cambria Math"/>
                        </a:rPr>
                        <m:t>𝑝</m:t>
                      </m:r>
                      <m:r>
                        <m:rPr/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))</a:t>
            </a:r>
            <a:endParaRPr/>
          </a:p>
          <a:p>
            <a:pPr marL="0" indent="0">
              <a:buNone/>
              <a:defRPr/>
            </a:pPr>
            <a:r>
              <a:rPr lang="en-US"/>
              <a:t>(a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b)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c = 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b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c</a:t>
            </a:r>
            <a:endParaRPr/>
          </a:p>
          <a:p>
            <a:pPr marL="0" indent="0">
              <a:buNone/>
              <a:defRPr/>
            </a:pPr>
            <a:r>
              <a:rPr lang="en-US"/>
              <a:t>2) </a:t>
            </a:r>
            <a:r>
              <a:rPr lang="ru-RU"/>
              <a:t>Подстановки можно выполнять только вместо отдельных переменных</a:t>
            </a:r>
            <a:endParaRPr/>
          </a:p>
          <a:p>
            <a:pPr marL="0" indent="0">
              <a:buNone/>
              <a:defRPr/>
            </a:pPr>
            <a:r>
              <a:rPr lang="en-US">
                <a:solidFill>
                  <a:srgbClr val="FF0000"/>
                </a:solidFill>
              </a:rPr>
              <a:t>[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type m:val="skw"/>
                          <m:ctrlPr>
                            <a:rPr lang="ru-RU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𝑞</m:t>
                          </m:r>
                        </m:num>
                        <m:den>
                          <m:r>
                            <m:rPr/>
                            <a:rPr lang="en-US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US">
                <a:solidFill>
                  <a:srgbClr val="FF0000"/>
                </a:solidFill>
              </a:rPr>
              <a:t>]K </a:t>
            </a:r>
            <a:r>
              <a:rPr lang="en-US"/>
              <a:t>; </a:t>
            </a:r>
            <a:r>
              <a:rPr lang="en-US">
                <a:solidFill>
                  <a:srgbClr val="FF0000"/>
                </a:solidFill>
              </a:rPr>
              <a:t>[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type m:val="skw"/>
                          <m:ctrlPr>
                            <a:rPr lang="ru-RU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𝑞</m:t>
                          </m:r>
                        </m:num>
                        <m:den>
                          <m:r>
                            <m:rPr/>
                            <a:rPr lang="en-US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𝑞</m:t>
                          </m:r>
                          <m:r>
                            <m:rPr>
                              <m:nor m:val="on"/>
                            </m:rPr>
                            <a:rPr lang="en-US">
                              <a:solidFill>
                                <a:srgbClr val="FF0000"/>
                              </a:solidFill>
                            </a:rPr>
                            <m:t>⊃</m:t>
                          </m:r>
                          <m:r>
                            <m:rPr/>
                            <a:rPr lang="en-US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US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US">
                <a:solidFill>
                  <a:srgbClr val="FF0000"/>
                </a:solidFill>
              </a:rPr>
              <a:t>]</a:t>
            </a:r>
            <a:r>
              <a:rPr lang="en-US">
                <a:solidFill>
                  <a:srgbClr val="FF0000"/>
                </a:solidFill>
              </a:rPr>
              <a:t>K</a:t>
            </a:r>
            <a:r>
              <a:rPr lang="ru-RU">
                <a:solidFill>
                  <a:srgbClr val="FF0000"/>
                </a:solidFill>
              </a:rPr>
              <a:t> </a:t>
            </a:r>
            <a:r>
              <a:rPr lang="ru-RU"/>
              <a:t>– </a:t>
            </a:r>
            <a:r>
              <a:rPr lang="ru-RU" b="1"/>
              <a:t>НЕ ВАЛИДНО</a:t>
            </a:r>
            <a:endParaRPr lang="en-US" b="1"/>
          </a:p>
          <a:p>
            <a:pPr marL="0" indent="0">
              <a:buNone/>
              <a:defRPr/>
            </a:pPr>
            <a:r>
              <a:rPr lang="en-US"/>
              <a:t>3) </a:t>
            </a:r>
            <a:r>
              <a:rPr lang="ru-RU"/>
              <a:t>Нельзя проводить частичную подстановку: заменяются все вхождения переменных</a:t>
            </a:r>
            <a:endParaRPr/>
          </a:p>
          <a:p>
            <a:pPr marL="0" indent="0">
              <a:buNone/>
              <a:defRPr/>
            </a:pPr>
            <a:r>
              <a:rPr lang="ru-RU"/>
              <a:t>3*) Подстановка вместо переменной, которой нет в формуле, не изменяет саму формулу.</a:t>
            </a:r>
            <a:endParaRPr/>
          </a:p>
          <a:p>
            <a:pPr marL="0" indent="0">
              <a:buNone/>
              <a:defRPr/>
            </a:pPr>
            <a:r>
              <a:rPr lang="en-US">
                <a:latin typeface="Cambria Math"/>
              </a:rPr>
              <a:t>S: (</a:t>
            </a:r>
            <a:r>
              <a:rPr lang="en-US"/>
              <a:t>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>
                <a:latin typeface="Cambria Math"/>
              </a:rPr>
              <a:t>(p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 b="0" i="0"/>
                        <m:t> </m:t>
                      </m:r>
                      <m:r>
                        <m:rPr>
                          <m:nor m:val="on"/>
                        </m:rPr>
                        <a:rPr lang="en-US" b="0" i="0"/>
                        <m:t>q</m:t>
                      </m:r>
                    </m:oMath>
                  </m:oMathPara>
                </a14:m>
              </mc:Choice>
              <mc:Fallback/>
            </mc:AlternateContent>
            <a:r>
              <a:rPr lang="en-US">
                <a:latin typeface="Cambria Math"/>
              </a:rPr>
              <a:t>))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 b="0" i="0"/>
                        <m:t> ( (</m:t>
                      </m:r>
                      <m:r>
                        <m:rPr>
                          <m:nor m:val="on"/>
                        </m:rPr>
                        <a:rPr lang="en-US" b="0" i="0"/>
                        <m:t>s</m:t>
                      </m:r>
                      <m:r>
                        <m:rPr>
                          <m:nor m:val="on"/>
                        </m:rPr>
                        <a:rPr lang="en-US" b="0" i="0"/>
                        <m:t> ⊃ 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 b="0" i="0"/>
                        <m:t>)⊃ (</m:t>
                      </m:r>
                      <m:r>
                        <m:rPr>
                          <m:nor m:val="on"/>
                        </m:rPr>
                        <a:rPr lang="en-US" b="0" i="0"/>
                        <m:t>s</m:t>
                      </m:r>
                      <m:r>
                        <m:rPr>
                          <m:nor m:val="on"/>
                        </m:rPr>
                        <a:rPr lang="en-US" b="0" i="0"/>
                        <m:t> ⊃ </m:t>
                      </m:r>
                      <m:r>
                        <m:rPr>
                          <m:nor m:val="on"/>
                        </m:rPr>
                        <a:rPr lang="en-US" b="0" i="0"/>
                        <m:t>q</m:t>
                      </m:r>
                      <m:r>
                        <m:rPr>
                          <m:nor m:val="on"/>
                        </m:rPr>
                        <a:rPr lang="en-US" b="0" i="0"/>
                        <m:t>))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nor m:val="on"/>
                                </m:rPr>
                                <a:rPr lang="en-US" b="0" i="0">
                                  <a:latin typeface="Cambria Math"/>
                                </a:rPr>
                                <m:t>r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𝑝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S = ( 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((p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 b="0" i="0"/>
                        <m:t> </m:t>
                      </m:r>
                      <m:r>
                        <m:rPr>
                          <m:nor m:val="on"/>
                        </m:rPr>
                        <a:rPr lang="en-US" b="0" i="0"/>
                        <m:t>q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(r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p)))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…</a:t>
            </a:r>
            <a:endParaRPr/>
          </a:p>
          <a:p>
            <a:pPr marL="457200" indent="-457200">
              <a:buAutoNum type="arabicPeriod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nor m:val="on"/>
                                </m:rPr>
                                <a:rPr lang="en-US" b="0" i="0">
                                  <a:latin typeface="Cambria Math"/>
                                </a:rPr>
                                <m:t>m</m:t>
                              </m:r>
                            </m:num>
                            <m:den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  <m:r>
                            <m:rPr/>
                            <a:rPr lang="en-US" b="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m:rPr/>
                        <a:rPr lang="en-US" b="0" i="1">
                          <a:latin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</a:rPr>
                        <m:t>𝑆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= ( </a:t>
            </a:r>
            <a:r>
              <a:rPr lang="en-US"/>
              <a:t>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(</a:t>
            </a:r>
            <a:r>
              <a:rPr lang="en-US"/>
              <a:t>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m</a:t>
            </a:r>
            <a:r>
              <a:rPr lang="en-US"/>
              <a:t>))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 b="0" i="0"/>
                        <m:t> ((</m:t>
                      </m:r>
                      <m:r>
                        <m:rPr>
                          <m:nor m:val="on"/>
                        </m:rPr>
                        <a:rPr lang="en-US" b="0" i="0"/>
                        <m:t>s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 b="0" i="0"/>
                        <m:t>n</m:t>
                      </m:r>
                      <m:r>
                        <m:rPr>
                          <m:nor m:val="on"/>
                        </m:rPr>
                        <a:rPr lang="en-US" b="0" i="0"/>
                        <m:t>)⊃(</m:t>
                      </m:r>
                      <m:r>
                        <m:rPr>
                          <m:nor m:val="on"/>
                        </m:rPr>
                        <a:rPr lang="en-US" b="0" i="0"/>
                        <m:t>s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 b="0" i="0"/>
                        <m:t>m</m:t>
                      </m:r>
                      <m:r>
                        <m:rPr>
                          <m:nor m:val="on"/>
                        </m:rPr>
                        <a:rPr lang="en-US" b="0" i="0"/>
                        <m:t>))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</a:t>
            </a:r>
            <a:endParaRPr/>
          </a:p>
          <a:p>
            <a:pPr marL="457200" indent="-457200">
              <a:buAutoNum type="arabicPeriod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nor m:val="on"/>
                                </m:rPr>
                                <a:rPr lang="en-US">
                                  <a:latin typeface="Cambria Math"/>
                                </a:rPr>
                                <m:t>r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S = ( 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((p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 </m:t>
                      </m:r>
                      <m:r>
                        <m:rPr>
                          <m:nor m:val="on"/>
                        </m:rPr>
                        <a:rPr lang="en-US"/>
                        <m:t>q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b="0" i="0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r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𝑝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))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</a:t>
            </a:r>
            <a:r>
              <a:rPr lang="en-US"/>
              <a:t>((s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 b="0" i="0"/>
                        <m:t>(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 b="0" i="0"/>
                        <m:t>q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))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b="0" i="0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>
                          <a:latin typeface="Cambria Math"/>
                        </a:rPr>
                        <m:t>s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 b="0" i="0"/>
                        <m:t>(</m:t>
                      </m:r>
                      <m:r>
                        <m:rPr>
                          <m:nor m:val="on"/>
                        </m:rPr>
                        <a:rPr lang="en-US" b="0" i="0"/>
                        <m:t>r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 b="0" i="0"/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)</a:t>
            </a:r>
            <a:endParaRPr lang="ru-RU"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nor m:val="on"/>
                                </m:rPr>
                                <a:rPr lang="en-US">
                                  <a:latin typeface="Cambria Math"/>
                                </a:rPr>
                                <m:t>r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num>
                            <m:den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S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b="0" i="1">
                          <a:latin typeface="Cambria Math"/>
                        </a:rPr>
                        <m:t>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b="0" i="0">
                          <a:latin typeface="Cambria Math"/>
                        </a:rPr>
                        <m:t>[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m:rPr/>
                        <a:rPr lang="en-US" b="0" i="1">
                          <a:latin typeface="Cambria Math"/>
                        </a:rPr>
                        <m:t>[</m:t>
                      </m:r>
                      <m:f>
                        <m:fPr>
                          <m:type m:val="skw"/>
                          <m:ctrlPr>
                            <a:rPr lang="ru-RU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en-US">
                              <a:latin typeface="Cambria Math"/>
                            </a:rPr>
                            <m:t>r</m:t>
                          </m:r>
                          <m:r>
                            <m:rPr>
                              <m:nor m:val="on"/>
                            </m:rPr>
                            <a:rPr lang="en-US"/>
                            <m:t>⊃</m:t>
                          </m:r>
                          <m:r>
                            <m:rPr/>
                            <a:rPr lang="en-US" i="1">
                              <a:latin typeface="Cambria Math"/>
                            </a:rPr>
                            <m:t>𝑝</m:t>
                          </m:r>
                        </m:num>
                        <m:den>
                          <m:r>
                            <m:rPr/>
                            <a:rPr lang="en-US" i="1">
                              <a:latin typeface="Cambria Math"/>
                            </a:rPr>
                            <m:t>𝑞</m:t>
                          </m:r>
                        </m:den>
                      </m:f>
                      <m:r>
                        <m:rPr/>
                        <a:rPr lang="en-US" b="0" i="1">
                          <a:latin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S]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DB6ECDE-053F-45DE-973C-CB77A5F4AF31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Задание 1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262740" y="-234413"/>
            <a:ext cx="11266714" cy="562734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Выполнить подстановку, раскрыв скобки где это возможно:</a:t>
            </a:r>
            <a:endParaRPr/>
          </a:p>
          <a:p>
            <a:pPr marL="0" indent="0">
              <a:buNone/>
              <a:defRPr/>
            </a:pPr>
            <a:r>
              <a:rPr lang="ru-RU"/>
              <a:t>1)</a:t>
            </a:r>
            <a:r>
              <a:rPr lang="en-US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m:rPr/>
                        <a:rPr lang="en-US" i="1">
                          <a:latin typeface="Cambria Math"/>
                        </a:rPr>
                        <m:t>[</m:t>
                      </m:r>
                      <m:f>
                        <m:fPr>
                          <m:type m:val="skw"/>
                          <m:ctrlPr>
                            <a:rPr lang="ru-RU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en-US">
                              <a:latin typeface="Cambria Math"/>
                            </a:rPr>
                            <m:t>r</m:t>
                          </m:r>
                          <m:r>
                            <m:rPr>
                              <m:nor m:val="on"/>
                            </m:rPr>
                            <a:rPr lang="en-US"/>
                            <m:t>⊃</m:t>
                          </m:r>
                          <m:r>
                            <m:rPr/>
                            <a:rPr lang="en-US" i="1">
                              <a:latin typeface="Cambria Math"/>
                            </a:rPr>
                            <m:t>𝑝</m:t>
                          </m:r>
                        </m:num>
                        <m:den>
                          <m:r>
                            <m:rPr/>
                            <a:rPr lang="en-US" i="1">
                              <a:latin typeface="Cambria Math"/>
                            </a:rPr>
                            <m:t>𝑞</m:t>
                          </m:r>
                        </m:den>
                      </m:f>
                      <m:r>
                        <m:rPr/>
                        <a:rPr lang="en-US" i="1">
                          <a:latin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S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2)</a:t>
            </a:r>
            <a:r>
              <a:rPr lang="ru-RU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>
                                  <a:latin typeface="Cambria Math"/>
                                  <a:ea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m:rPr>
                                  <m:nor m:val="on"/>
                                </m:rPr>
                                <a:rPr lang="en-US" b="0" i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m:rPr>
                                  <m:nor m:val="on"/>
                                </m:rPr>
                                <a:rPr lang="en-US">
                                  <a:latin typeface="Cambria Math"/>
                                  <a:ea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  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r>
                            <m:rPr/>
                            <a:rPr lang="en-US" b="0" i="1">
                              <a:latin typeface="Cambria Math"/>
                            </a:rPr>
                            <m:t>  </m:t>
                          </m:r>
                        </m:e>
                      </m:d>
                      <m:r>
                        <m:rPr/>
                        <a:rPr lang="en-US" b="0" i="1">
                          <a:latin typeface="Cambria Math"/>
                        </a:rPr>
                        <m:t>[</m:t>
                      </m:r>
                      <m:f>
                        <m:fPr>
                          <m:type m:val="skw"/>
                          <m:ctrlPr>
                            <a:rPr lang="en-US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b="0" i="1">
                              <a:latin typeface="Cambria Math"/>
                            </a:rPr>
                            <m:t>𝑞</m:t>
                          </m:r>
                          <m:r>
                            <m:rPr>
                              <m:nor m:val="on"/>
                            </m:rPr>
                            <a:rPr lang="en-US" b="0" i="0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US" b="0" i="1">
                              <a:latin typeface="Cambria Math"/>
                            </a:rPr>
                            <m:t>𝑝</m:t>
                          </m:r>
                          <m:r>
                            <m:rPr/>
                            <a:rPr lang="en-US" b="0" i="1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nor m:val="on"/>
                            </m:rPr>
                            <a:rPr lang="en-US"/>
                            <m:t>⊃</m:t>
                          </m:r>
                          <m:r>
                            <m:rPr/>
                            <a:rPr lang="en-US" b="0" i="1">
                              <a:latin typeface="Cambria Math"/>
                            </a:rPr>
                            <m:t>  (</m:t>
                          </m:r>
                          <m:r>
                            <m:rPr/>
                            <a:rPr lang="en-US" b="0" i="1">
                              <a:latin typeface="Cambria Math"/>
                            </a:rPr>
                            <m:t>𝑓</m:t>
                          </m:r>
                          <m:r>
                            <m:rPr/>
                            <a:rPr lang="en-US" b="0" i="1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nor m:val="on"/>
                            </m:rPr>
                            <a:rPr lang="en-US"/>
                            <m:t>⊃</m:t>
                          </m:r>
                          <m:r>
                            <m:rPr/>
                            <a:rPr lang="en-US" b="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US" b="0" i="1">
                              <a:latin typeface="Cambria Math"/>
                            </a:rPr>
                            <m:t>𝑝</m:t>
                          </m:r>
                          <m:r>
                            <m:rPr/>
                            <a:rPr lang="en-US" b="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/>
                            <a:rPr lang="en-US" b="0" i="1">
                              <a:latin typeface="Cambria Math"/>
                            </a:rPr>
                            <m:t>𝑞</m:t>
                          </m:r>
                        </m:den>
                      </m:f>
                      <m:r>
                        <m:rPr/>
                        <a:rPr lang="en-US" b="0" i="1">
                          <a:latin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K</a:t>
            </a:r>
            <a:endParaRPr/>
          </a:p>
          <a:p>
            <a:pPr marL="0" indent="0">
              <a:buNone/>
              <a:defRPr/>
            </a:pPr>
            <a:r>
              <a:rPr lang="en-US"/>
              <a:t>2)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i="1"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 b="0" i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m:rPr>
                                  <m:nor m:val="on"/>
                                </m:rPr>
                                <a:rPr lang="en-US">
                                  <a:latin typeface="Cambria Math"/>
                                  <a:ea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  <a:ea typeface="Cambria Math"/>
                                </a:rPr>
                                <m:t>  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den>
                          </m:f>
                          <m:r>
                            <m:rPr/>
                            <a:rPr lang="en-US" i="1">
                              <a:latin typeface="Cambria Math"/>
                            </a:rPr>
                            <m:t> 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nor m:val="on"/>
                                </m:rPr>
                                <a:rPr lang="en-US" b="0" i="0">
                                  <a:latin typeface="Cambria Math"/>
                                </a:rPr>
                                <m:t>s</m:t>
                              </m:r>
                              <m:r>
                                <m:rPr>
                                  <m:nor m:val="on"/>
                                </m:rPr>
                                <a:rPr lang="en-US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 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r>
                            <m:rPr/>
                            <a:rPr lang="en-US" b="0" i="1">
                              <a:latin typeface="Cambria Math"/>
                            </a:rPr>
                            <m:t>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  <m:r>
                                <m:rPr>
                                  <m:nor m:val="on"/>
                                </m:rPr>
                                <a:rPr lang="en-US" b="0" i="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 m:val="on"/>
                                </m:rPr>
                                <a:rPr lang="en-US">
                                  <a:latin typeface="Cambria Math"/>
                                  <a:ea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  <a:ea typeface="Cambria Math"/>
                                </a:rPr>
                                <m:t>  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⊃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𝑝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b="0" i="0">
                          <a:latin typeface="Cambria Math"/>
                        </a:rPr>
                        <m:t>S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 marL="0" indent="0">
              <a:buNone/>
              <a:defRPr/>
            </a:pPr>
            <a:r>
              <a:rPr lang="en-US"/>
              <a:t>3)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[</m:t>
                      </m:r>
                      <m:f>
                        <m:fPr>
                          <m:type m:val="skw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>
                              <a:latin typeface="Cambria Math"/>
                            </a:rPr>
                            <m:t>E</m:t>
                          </m:r>
                          <m:r>
                            <m:rPr/>
                            <a:rPr lang="en-US" i="1">
                              <a:latin typeface="Cambria Math"/>
                            </a:rPr>
                            <m:t>¬</m:t>
                          </m:r>
                        </m:num>
                        <m:den>
                          <m:r>
                            <m:rPr/>
                            <a:rPr lang="en-US" i="1">
                              <a:latin typeface="Cambria Math"/>
                            </a:rPr>
                            <m:t>𝑝</m:t>
                          </m:r>
                        </m:den>
                      </m:f>
                      <m:r>
                        <m:rPr/>
                        <a:rPr lang="en-US" i="1">
                          <a:latin typeface="Cambria Math"/>
                        </a:rPr>
                        <m:t>  </m:t>
                      </m:r>
                      <m:f>
                        <m:fPr>
                          <m:type m:val="skw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b="0" i="1">
                              <a:latin typeface="Cambria Math"/>
                            </a:rPr>
                            <m:t>𝑓</m:t>
                          </m:r>
                        </m:num>
                        <m:den>
                          <m:r>
                            <m:rPr/>
                            <a:rPr lang="en-US" i="1">
                              <a:latin typeface="Cambria Math"/>
                            </a:rPr>
                            <m:t>𝑞</m:t>
                          </m:r>
                        </m:den>
                      </m:f>
                      <m:r>
                        <m:rPr/>
                        <a:rPr lang="en-US" i="1">
                          <a:latin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K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K = p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(q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p)</a:t>
            </a:r>
            <a:endParaRPr/>
          </a:p>
          <a:p>
            <a:pPr marL="0" indent="0">
              <a:buNone/>
              <a:defRPr/>
            </a:pPr>
            <a:r>
              <a:rPr lang="en-US"/>
              <a:t>S = </a:t>
            </a:r>
            <a:r>
              <a:rPr lang="ru-RU"/>
              <a:t> (s ⊃(p ⊃ q)) ⊃ ( (s ⊃ p)⊃ (s ⊃ q)) </a:t>
            </a:r>
            <a:endParaRPr lang="en-US"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E</m:t>
                      </m:r>
                      <m:r>
                        <m:rPr/>
                        <a:rPr lang="en-US" i="1">
                          <a:latin typeface="Cambria Math"/>
                        </a:rPr>
                        <m:t>¬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= ((p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f)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f)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p</a:t>
            </a: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EAB684-4F96-46EF-8977-696EED0182AE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Modus ponens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⊢</a:t>
            </a:r>
            <a:r>
              <a:rPr lang="en-US"/>
              <a:t> A</a:t>
            </a:r>
            <a:r>
              <a:rPr lang="ru-RU"/>
              <a:t> – формула </a:t>
            </a:r>
            <a:r>
              <a:rPr lang="en-US"/>
              <a:t>A </a:t>
            </a:r>
            <a:r>
              <a:rPr lang="ru-RU"/>
              <a:t>доказуема (выводима) в рамках некоторой формальной системы</a:t>
            </a:r>
            <a:endParaRPr/>
          </a:p>
          <a:p>
            <a:pPr marL="0" indent="0">
              <a:buNone/>
              <a:defRPr/>
            </a:pPr>
            <a:r>
              <a:rPr lang="en-US"/>
              <a:t>A </a:t>
            </a:r>
            <a:r>
              <a:rPr lang="ru-RU"/>
              <a:t>⊢</a:t>
            </a:r>
            <a:r>
              <a:rPr lang="en-US"/>
              <a:t> B – </a:t>
            </a:r>
            <a:r>
              <a:rPr lang="ru-RU"/>
              <a:t>формула В доказуема (выводима) из формулы </a:t>
            </a:r>
            <a:r>
              <a:rPr lang="en-US"/>
              <a:t>A </a:t>
            </a:r>
            <a:r>
              <a:rPr lang="ru-RU"/>
              <a:t>в рамках некоторой формальной системы</a:t>
            </a:r>
            <a:r>
              <a:rPr lang="ru-RU"/>
              <a:t>.</a:t>
            </a:r>
            <a:endParaRPr lang="en-US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nor m:val="on"/>
                        </m:rPr>
                        <a:rPr lang="ru-RU"/>
                        <m:t>⊢</m:t>
                      </m:r>
                      <m:r>
                        <m:rPr/>
                        <a:rPr lang="en-US" b="0" i="0">
                          <a:latin typeface="Cambria Math"/>
                        </a:rPr>
                        <m:t> </m:t>
                      </m:r>
                      <m:limLow>
                        <m:limLowPr>
                          <m:ctrlPr>
                            <a:rPr lang="en-US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⊃(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))</m:t>
                              </m:r>
                            </m:e>
                          </m:groupChr>
                        </m:e>
                        <m:lim>
                          <m:r>
                            <m:rPr/>
                            <a:rPr lang="en-US" b="0" i="1">
                              <a:latin typeface="Cambria Math"/>
                            </a:rPr>
                            <m:t>𝐴</m:t>
                          </m:r>
                        </m:lim>
                      </m:limLow>
                      <m:r>
                        <m:rPr/>
                        <a:rPr lang="en-US" i="1">
                          <a:latin typeface="Cambria Math"/>
                        </a:rPr>
                        <m:t>⊃</m:t>
                      </m:r>
                      <m:limLow>
                        <m:limLow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m:rPr/>
                                <a:rPr lang="ru-RU" i="1">
                                  <a:latin typeface="Cambria Math"/>
                                </a:rPr>
                                <m:t>(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  <m:r>
                                <m:rPr/>
                                <a:rPr lang="ru-RU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ru-RU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ru-RU" i="1">
                                  <a:latin typeface="Cambria Math"/>
                                </a:rPr>
                                <m:t>)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 </m:t>
                              </m:r>
                            </m:e>
                          </m:groupChr>
                        </m:e>
                        <m:lim>
                          <m:r>
                            <m:rPr/>
                            <a:rPr lang="en-US" b="0" i="1">
                              <a:latin typeface="Cambria Math"/>
                            </a:rPr>
                            <m:t>𝐵</m:t>
                          </m:r>
                        </m:lim>
                      </m:limLow>
                    </m:oMath>
                  </m:oMathPara>
                </a14:m>
              </mc:Choice>
              <mc:Fallback/>
            </mc:AlternateContent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nor m:val="on"/>
                        </m:rPr>
                        <a:rPr lang="ru-RU"/>
                        <m:t>⊢</m:t>
                      </m:r>
                      <m:r>
                        <m:rPr/>
                        <a:rPr lang="en-US" b="0" i="0">
                          <a:latin typeface="Cambria Math"/>
                        </a:rPr>
                        <m:t> </m:t>
                      </m:r>
                      <m:limLow>
                        <m:limLowPr>
                          <m:ctrlPr>
                            <a:rPr lang="en-US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⊃(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))</m:t>
                              </m:r>
                            </m:e>
                          </m:groupChr>
                        </m:e>
                        <m:lim>
                          <m:r>
                            <m:rPr/>
                            <a:rPr lang="en-US" b="0" i="1">
                              <a:latin typeface="Cambria Math"/>
                            </a:rPr>
                            <m:t>𝐵</m:t>
                          </m:r>
                        </m:lim>
                      </m:limLow>
                    </m:oMath>
                  </m:oMathPara>
                </a14:m>
              </mc:Choice>
              <mc:Fallback/>
            </mc:AlternateContent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ru-RU"/>
              <a:t>И ещё раз:</a:t>
            </a:r>
            <a:endParaRPr lang="en-US"/>
          </a:p>
          <a:p>
            <a:pPr marL="457200" indent="-457200">
              <a:buFont typeface="+mj-lt"/>
              <a:buAutoNum type="arabicPeriod"/>
              <a:defRPr/>
            </a:pPr>
            <a:r>
              <a:rPr lang="ru-RU"/>
              <a:t>Если </a:t>
            </a:r>
            <a:r>
              <a:rPr lang="ru-RU"/>
              <a:t>⊢ </a:t>
            </a:r>
            <a:r>
              <a:rPr lang="en-US"/>
              <a:t>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</a:t>
            </a:r>
            <a:r>
              <a:rPr lang="ru-RU"/>
              <a:t>, то это </a:t>
            </a:r>
            <a:r>
              <a:rPr lang="ru-RU" b="1"/>
              <a:t>В ОБЩЕМ СЛУЧАЕ</a:t>
            </a:r>
            <a:r>
              <a:rPr lang="ru-RU"/>
              <a:t> не означает, что ⊢ </a:t>
            </a:r>
            <a:r>
              <a:rPr lang="en-US"/>
              <a:t>A</a:t>
            </a:r>
            <a:r>
              <a:rPr lang="ru-RU"/>
              <a:t> и </a:t>
            </a:r>
            <a:r>
              <a:rPr lang="ru-RU"/>
              <a:t>⊢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</a:t>
            </a:r>
            <a:endParaRPr lang="ru-RU"/>
          </a:p>
          <a:p>
            <a:pPr marL="457200" indent="-457200">
              <a:buFont typeface="+mj-lt"/>
              <a:buAutoNum type="arabicPeriod"/>
              <a:defRPr/>
            </a:pPr>
            <a:r>
              <a:rPr lang="ru-RU"/>
              <a:t>Если </a:t>
            </a:r>
            <a:r>
              <a:rPr lang="ru-RU"/>
              <a:t>⊢ </a:t>
            </a:r>
            <a:r>
              <a:rPr lang="en-US"/>
              <a:t>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</a:t>
            </a:r>
            <a:r>
              <a:rPr lang="ru-RU"/>
              <a:t> и </a:t>
            </a:r>
            <a:r>
              <a:rPr lang="ru-RU"/>
              <a:t>⊢ </a:t>
            </a:r>
            <a:r>
              <a:rPr lang="en-US"/>
              <a:t>A</a:t>
            </a:r>
            <a:r>
              <a:rPr lang="ru-RU"/>
              <a:t>, то </a:t>
            </a:r>
            <a:r>
              <a:rPr lang="ru-RU"/>
              <a:t>м</a:t>
            </a:r>
            <a:r>
              <a:rPr lang="ru-RU"/>
              <a:t>ы можем сделать вывод, что </a:t>
            </a:r>
            <a:r>
              <a:rPr lang="ru-RU"/>
              <a:t>⊢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</a:t>
            </a:r>
            <a:r>
              <a:rPr lang="ru-RU"/>
              <a:t> (по</a:t>
            </a:r>
            <a:r>
              <a:rPr lang="en-US"/>
              <a:t> modus ponens</a:t>
            </a:r>
            <a:r>
              <a:rPr lang="ru-RU"/>
              <a:t>)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r>
              <a:rPr lang="ru-RU"/>
              <a:t>Если ⊢ </a:t>
            </a:r>
            <a:r>
              <a:rPr lang="en-US"/>
              <a:t>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</a:t>
            </a:r>
            <a:r>
              <a:rPr lang="ru-RU"/>
              <a:t> и ⊢ </a:t>
            </a:r>
            <a:r>
              <a:rPr lang="en-US"/>
              <a:t>B</a:t>
            </a:r>
            <a:r>
              <a:rPr lang="ru-RU"/>
              <a:t>, то </a:t>
            </a:r>
            <a:r>
              <a:rPr lang="ru-RU"/>
              <a:t>это </a:t>
            </a:r>
            <a:r>
              <a:rPr lang="ru-RU" b="1"/>
              <a:t>В ОБЩЕМ СЛУЧАЕ</a:t>
            </a:r>
            <a:r>
              <a:rPr lang="ru-RU"/>
              <a:t> не означает, что ⊢ </a:t>
            </a:r>
            <a:r>
              <a:rPr lang="en-US"/>
              <a:t>A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EAB684-4F96-46EF-8977-696EED0182AE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  <p:sp>
        <p:nvSpPr>
          <p:cNvPr id="17" name="Стрелка вправо 16"/>
          <p:cNvSpPr/>
          <p:nvPr/>
        </p:nvSpPr>
        <p:spPr bwMode="auto">
          <a:xfrm>
            <a:off x="3942705" y="2425343"/>
            <a:ext cx="978408" cy="48463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0" name="TextBox 19"/>
          <p:cNvSpPr txBox="1"/>
          <p:nvPr/>
        </p:nvSpPr>
        <p:spPr bwMode="auto">
          <a:xfrm>
            <a:off x="5060260" y="2217896"/>
            <a:ext cx="1481496" cy="9603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ru-RU" sz="3200"/>
                        <m:t>⊢</m:t>
                      </m:r>
                    </m:oMath>
                  </m:oMathPara>
                </a14:m>
              </mc:Choice>
              <mc:Fallback/>
            </mc:AlternateContent>
            <a:r>
              <a:rPr lang="en-US" sz="32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limLow>
                        <m:limLowPr>
                          <m:ctrlPr>
                            <a:rPr lang="en-US" sz="3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sz="3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 m:val="on"/>
                                </m:rPr>
                                <a:rPr lang="en-US" sz="3200"/>
                                <m:t>f</m:t>
                              </m:r>
                              <m:r>
                                <m:rPr>
                                  <m:nor m:val="on"/>
                                </m:rPr>
                                <a:rPr lang="en-US" sz="3200"/>
                                <m:t> ⊃</m:t>
                              </m:r>
                              <m:r>
                                <m:rPr>
                                  <m:nor m:val="on"/>
                                </m:rPr>
                                <a:rPr lang="ru-RU" sz="3200"/>
                                <m:t> </m:t>
                              </m:r>
                              <m:r>
                                <m:rPr>
                                  <m:nor m:val="on"/>
                                </m:rPr>
                                <a:rPr lang="en-US" sz="3200"/>
                                <m:t>p</m:t>
                              </m:r>
                              <m:r>
                                <m:rPr>
                                  <m:nor m:val="on"/>
                                </m:rPr>
                                <a:rPr lang="ru-RU" sz="3200"/>
                                <m:t> </m:t>
                              </m:r>
                            </m:e>
                          </m:groupChr>
                        </m:e>
                        <m:lim>
                          <m:r>
                            <m:rPr/>
                            <a:rPr lang="en-US" sz="3200" b="0" i="1">
                              <a:latin typeface="Cambria Math"/>
                            </a:rPr>
                            <m:t>𝐵</m:t>
                          </m:r>
                        </m:lim>
                      </m:limLow>
                    </m:oMath>
                  </m:oMathPara>
                </a14:m>
              </mc:Choice>
              <mc:Fallback/>
            </mc:AlternateContent>
            <a:endParaRPr lang="ru-RU" sz="320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4131695" y="2217896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MP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10000"/>
          </a:bodyPr>
          <a:lstStyle/>
          <a:p>
            <a:pPr marL="457200" indent="-457200">
              <a:buAutoNum type="arabicParenR"/>
              <a:defRPr/>
            </a:pPr>
            <a:r>
              <a:rPr lang="en-US"/>
              <a:t>p </a:t>
            </a:r>
            <a:r>
              <a:rPr lang="en-US"/>
              <a:t>⊃ </a:t>
            </a:r>
            <a:r>
              <a:rPr lang="en-US"/>
              <a:t>p</a:t>
            </a:r>
            <a:endParaRPr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US" b="0" i="1">
                          <a:latin typeface="Cambria Math"/>
                        </a:rPr>
                        <m:t>1. 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𝑟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m:rPr/>
                        <a:rPr lang="en-US" b="0" i="1">
                          <a:latin typeface="Cambria Math"/>
                        </a:rPr>
                        <m:t>𝑆</m:t>
                      </m:r>
                      <m:r>
                        <m:rPr/>
                        <a:rPr lang="en-US" b="0" i="1">
                          <a:latin typeface="Cambria Math"/>
                        </a:rPr>
                        <m:t>=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</a:rPr>
                        <m:t>s</m:t>
                      </m:r>
                      <m:r>
                        <m:rPr>
                          <m:nor m:val="on"/>
                        </m:rPr>
                        <a:rPr lang="en-US"/>
                        <m:t> ⊃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</a:rPr>
                        <m:t>r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 </m:t>
                      </m:r>
                      <m:r>
                        <m:rPr>
                          <m:nor m:val="on"/>
                        </m:rPr>
                        <a:rPr lang="en-US"/>
                        <m:t>q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)) </m:t>
                      </m:r>
                      <m:r>
                        <m:rPr>
                          <m:nor m:val="on"/>
                        </m:rPr>
                        <a:rPr lang="en-US"/>
                        <m:t>⊃ ( (</m:t>
                      </m:r>
                      <m:r>
                        <m:rPr>
                          <m:nor m:val="on"/>
                        </m:rPr>
                        <a:rPr lang="en-US" b="0" i="0"/>
                        <m:t>s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 b="0" i="0"/>
                        <m:t>r</m:t>
                      </m:r>
                      <m:r>
                        <m:rPr>
                          <m:nor m:val="on"/>
                        </m:rPr>
                        <a:rPr lang="en-US"/>
                        <m:t>)⊃ (</m:t>
                      </m:r>
                      <m:r>
                        <m:rPr>
                          <m:nor m:val="on"/>
                        </m:rPr>
                        <a:rPr lang="en-US" b="0" i="0"/>
                        <m:t>s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q</m:t>
                      </m:r>
                      <m:r>
                        <m:rPr>
                          <m:nor m:val="on"/>
                        </m:rPr>
                        <a:rPr lang="en-US"/>
                        <m:t>))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r>
              <a:rPr lang="en-US"/>
              <a:t>2.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𝑝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r>
                        <m:rPr/>
                        <a:rPr lang="en-US" b="0" i="1">
                          <a:latin typeface="Cambria Math"/>
                        </a:rPr>
                        <m:t>1</m:t>
                      </m:r>
                      <m:r>
                        <m:rPr/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</a:rPr>
                        <m:t>s</m:t>
                      </m:r>
                      <m:r>
                        <m:rPr>
                          <m:nor m:val="on"/>
                        </m:rPr>
                        <a:rPr lang="en-US"/>
                        <m:t> ⊃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</a:rPr>
                        <m:t>r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 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)) </m:t>
                      </m:r>
                      <m:r>
                        <m:rPr>
                          <m:nor m:val="on"/>
                        </m:rPr>
                        <a:rPr lang="en-US"/>
                        <m:t>⊃ ( (</m:t>
                      </m:r>
                      <m:r>
                        <m:rPr>
                          <m:nor m:val="on"/>
                        </m:rPr>
                        <a:rPr lang="en-US" b="0" i="0"/>
                        <m:t>s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 b="0" i="0"/>
                        <m:t>r</m:t>
                      </m:r>
                      <m:r>
                        <m:rPr>
                          <m:nor m:val="on"/>
                        </m:rPr>
                        <a:rPr lang="en-US"/>
                        <m:t>)⊃ (</m:t>
                      </m:r>
                      <m:r>
                        <m:rPr>
                          <m:nor m:val="on"/>
                        </m:rPr>
                        <a:rPr lang="en-US" b="0" i="0"/>
                        <m:t>s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))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US" i="1">
                          <a:latin typeface="Cambria Math"/>
                        </a:rPr>
                        <m:t>3</m:t>
                      </m:r>
                      <m:r>
                        <m:rPr/>
                        <a:rPr lang="en-US" b="0" i="1">
                          <a:latin typeface="Cambria Math"/>
                        </a:rPr>
                        <m:t>.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r>
                        <m:rPr/>
                        <a:rPr lang="en-US" b="0" i="1">
                          <a:latin typeface="Cambria Math"/>
                        </a:rPr>
                        <m:t>2</m:t>
                      </m:r>
                      <m:r>
                        <m:rPr/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</a:rPr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r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 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)) </m:t>
                      </m:r>
                      <m:r>
                        <m:rPr>
                          <m:nor m:val="on"/>
                        </m:rPr>
                        <a:rPr lang="en-US"/>
                        <m:t>⊃ ( (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r</m:t>
                      </m:r>
                      <m:r>
                        <m:rPr>
                          <m:nor m:val="on"/>
                        </m:rPr>
                        <a:rPr lang="en-US"/>
                        <m:t>)⊃ (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))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r>
              <a:rPr lang="en-US">
                <a:latin typeface="Cambria Math"/>
              </a:rPr>
              <a:t>4.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𝑟</m:t>
                              </m:r>
                            </m:num>
                            <m:den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r>
                        <m:rPr/>
                        <a:rPr lang="en-US" b="0" i="1">
                          <a:latin typeface="Cambria Math"/>
                        </a:rPr>
                        <m:t>𝐾</m:t>
                      </m:r>
                      <m:r>
                        <m:rPr/>
                        <a:rPr lang="en-US" b="0" i="1">
                          <a:latin typeface="Cambria Math"/>
                        </a:rPr>
                        <m:t>=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r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 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r>
              <a:rPr lang="en-US">
                <a:latin typeface="Cambria Math"/>
              </a:rPr>
              <a:t>5. A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r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 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r>
              <a:rPr lang="en-US">
                <a:latin typeface="Cambria Math"/>
              </a:rPr>
              <a:t>B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( (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r</m:t>
                      </m:r>
                      <m:r>
                        <m:rPr>
                          <m:nor m:val="on"/>
                        </m:rPr>
                        <a:rPr lang="en-US"/>
                        <m:t>)⊃ (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))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r>
              <a:rPr lang="en-US">
                <a:latin typeface="Cambria Math"/>
              </a:rPr>
              <a:t>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>
                <a:latin typeface="Cambria Math"/>
              </a:rPr>
              <a:t> B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r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 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)) </m:t>
                      </m:r>
                      <m:r>
                        <m:rPr>
                          <m:nor m:val="on"/>
                        </m:rPr>
                        <a:rPr lang="en-US"/>
                        <m:t>⊃ ( (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r</m:t>
                      </m:r>
                      <m:r>
                        <m:rPr>
                          <m:nor m:val="on"/>
                        </m:rPr>
                        <a:rPr lang="en-US"/>
                        <m:t>)⊃ (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))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r>
              <a:rPr lang="en-US">
                <a:latin typeface="Cambria Math"/>
              </a:rPr>
              <a:t>MP: </a:t>
            </a:r>
            <a:r>
              <a:rPr lang="ru-RU"/>
              <a:t>⊢ </a:t>
            </a:r>
            <a:r>
              <a:rPr lang="en-US"/>
              <a:t>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B, </a:t>
            </a:r>
            <a:r>
              <a:rPr lang="ru-RU"/>
              <a:t>⊢ </a:t>
            </a:r>
            <a:r>
              <a:rPr lang="en-US"/>
              <a:t>A =&gt; </a:t>
            </a:r>
            <a:r>
              <a:rPr lang="ru-RU"/>
              <a:t>⊢ </a:t>
            </a:r>
            <a:r>
              <a:rPr lang="en-US"/>
              <a:t>B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 (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r</m:t>
                      </m:r>
                      <m:r>
                        <m:rPr>
                          <m:nor m:val="on"/>
                        </m:rPr>
                        <a:rPr lang="en-US"/>
                        <m:t>)⊃ (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r>
              <a:rPr lang="en-US">
                <a:latin typeface="Cambria Math"/>
              </a:rPr>
              <a:t>6. [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type m:val="skw"/>
                          <m:ctrlPr>
                            <a:rPr lang="ru-RU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b="0" i="1">
                              <a:latin typeface="Cambria Math"/>
                            </a:rPr>
                            <m:t>𝑞</m:t>
                          </m:r>
                          <m:r>
                            <m:rPr>
                              <m:nor m:val="on"/>
                            </m:rPr>
                            <a:rPr lang="en-US"/>
                            <m:t>⊃</m:t>
                          </m:r>
                          <m:r>
                            <m:rPr/>
                            <a:rPr lang="en-US" b="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US" b="0" i="1">
                              <a:latin typeface="Cambria Math"/>
                            </a:rPr>
                            <m:t>𝑝</m:t>
                          </m:r>
                        </m:num>
                        <m:den>
                          <m:r>
                            <m:rPr/>
                            <a:rPr lang="en-US" b="0" i="1">
                              <a:latin typeface="Cambria Math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US">
                <a:latin typeface="Cambria Math"/>
              </a:rPr>
              <a:t>]5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(</m:t>
                      </m:r>
                      <m:r>
                        <m:rPr>
                          <m:nor m:val="on"/>
                        </m:rPr>
                        <a:rPr lang="en-US" b="0" i="0"/>
                        <m:t>q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 b="0" i="0"/>
                        <m:t>) ⊃ (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r>
              <a:rPr lang="en-US">
                <a:latin typeface="Cambria Math"/>
              </a:rPr>
              <a:t>7. A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(</m:t>
                      </m:r>
                      <m:r>
                        <m:rPr>
                          <m:nor m:val="on"/>
                        </m:rPr>
                        <a:rPr lang="en-US"/>
                        <m:t>q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r>
              <a:rPr lang="en-US">
                <a:latin typeface="Cambria Math"/>
              </a:rPr>
              <a:t>B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r>
              <a:rPr lang="en-US">
                <a:latin typeface="Cambria Math"/>
              </a:rPr>
              <a:t>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>
                <a:latin typeface="Cambria Math"/>
              </a:rPr>
              <a:t> B =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(</m:t>
                      </m:r>
                      <m:r>
                        <m:rPr>
                          <m:nor m:val="on"/>
                        </m:rPr>
                        <a:rPr lang="en-US"/>
                        <m:t>q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) ⊃ (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r>
              <a:rPr lang="en-US">
                <a:latin typeface="Cambria Math"/>
              </a:rPr>
              <a:t>MP: </a:t>
            </a:r>
            <a:r>
              <a:rPr lang="ru-RU"/>
              <a:t>⊢ </a:t>
            </a:r>
            <a:r>
              <a:rPr lang="en-US"/>
              <a:t>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B, </a:t>
            </a:r>
            <a:r>
              <a:rPr lang="ru-RU"/>
              <a:t>⊢ </a:t>
            </a:r>
            <a:r>
              <a:rPr lang="en-US"/>
              <a:t>A =&gt; </a:t>
            </a:r>
            <a:r>
              <a:rPr lang="ru-RU"/>
              <a:t>⊢ </a:t>
            </a:r>
            <a:r>
              <a:rPr lang="en-US"/>
              <a:t>B </a:t>
            </a:r>
            <a:r>
              <a:rPr lang="en-US"/>
              <a:t>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(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), </m:t>
                      </m:r>
                      <m:r>
                        <m:rPr>
                          <m:nor m:val="on"/>
                        </m:rPr>
                        <a:rPr lang="ru-RU" b="0" i="0"/>
                        <m:t>ч.т.д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 marL="0" indent="0">
              <a:buNone/>
              <a:defRPr/>
            </a:pP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A6F852E-F9C6-4DFF-A5DF-454BD83AF7FF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 bwMode="auto">
          <a:xfrm>
            <a:off x="6301946" y="947351"/>
            <a:ext cx="4599914" cy="649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[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type m:val="skw"/>
                          <m:ctrlPr>
                            <a:rPr lang="ru-RU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b="0" i="1">
                              <a:latin typeface="Cambria Math"/>
                            </a:rPr>
                            <m:t>𝑝</m:t>
                          </m:r>
                        </m:num>
                        <m:den>
                          <m:r>
                            <m:rPr/>
                            <a:rPr lang="en-US" b="0" i="1">
                              <a:latin typeface="Cambria Math"/>
                            </a:rPr>
                            <m:t>𝑞</m:t>
                          </m:r>
                        </m:den>
                      </m:f>
                      <m:r>
                        <m:rPr/>
                        <a:rPr lang="en-US" b="0" i="1">
                          <a:latin typeface="Cambria Math"/>
                        </a:rPr>
                        <m:t> </m:t>
                      </m:r>
                      <m:f>
                        <m:fPr>
                          <m:type m:val="skw"/>
                          <m:ctrlPr>
                            <a:rPr lang="ru-RU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b="0" i="1">
                              <a:latin typeface="Cambria Math"/>
                            </a:rPr>
                            <m:t>𝑝</m:t>
                          </m:r>
                        </m:num>
                        <m:den>
                          <m:r>
                            <m:rPr/>
                            <a:rPr lang="en-US" b="0" i="1">
                              <a:latin typeface="Cambria Math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US"/>
              <a:t>] S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</a:rPr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r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 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</a:rPr>
                        <m:t>)) </m:t>
                      </m:r>
                      <m:r>
                        <m:rPr>
                          <m:nor m:val="on"/>
                        </m:rPr>
                        <a:rPr lang="en-US"/>
                        <m:t>⊃ ( (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/>
                        <m:t>r</m:t>
                      </m:r>
                      <m:r>
                        <m:rPr>
                          <m:nor m:val="on"/>
                        </m:rPr>
                        <a:rPr lang="en-US"/>
                        <m:t>)⊃ (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 ⊃ </m:t>
                      </m:r>
                      <m:r>
                        <m:rPr>
                          <m:nor m:val="on"/>
                        </m:rPr>
                        <a:rPr lang="en-US" b="0" i="0"/>
                        <m:t>p</m:t>
                      </m:r>
                      <m:r>
                        <m:rPr>
                          <m:nor m:val="on"/>
                        </m:rPr>
                        <a:rPr lang="en-US"/>
                        <m:t>))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>
              <a:defRPr/>
            </a:pPr>
            <a:r>
              <a:rPr lang="en-US"/>
              <a:t> 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Задание 2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Доказать теоремы:</a:t>
            </a:r>
            <a:endParaRPr/>
          </a:p>
          <a:p>
            <a:pPr marL="457200" indent="-457200">
              <a:buAutoNum type="arabicParenR"/>
              <a:defRPr/>
            </a:pPr>
            <a:r>
              <a:rPr lang="en-US" b="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b="0" i="0">
                          <a:latin typeface="Cambria Math"/>
                        </a:rPr>
                        <m:t>(</m:t>
                      </m:r>
                      <m:r>
                        <m:rPr/>
                        <a:rPr lang="en-US" b="0" i="1">
                          <a:latin typeface="Cambria Math"/>
                        </a:rPr>
                        <m:t>𝑝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b="0" i="1">
                          <a:latin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</a:rPr>
                        <m:t>𝑞</m:t>
                      </m:r>
                      <m:r>
                        <m:rPr/>
                        <a:rPr lang="ru-RU" b="0" i="1">
                          <a:latin typeface="Cambria Math"/>
                        </a:rPr>
                        <m:t>)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b="0" i="1">
                          <a:latin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</a:rPr>
                        <m:t>( </m:t>
                      </m:r>
                      <m:r>
                        <m:rPr/>
                        <a:rPr lang="en-US" b="0" i="1">
                          <a:latin typeface="Cambria Math"/>
                        </a:rPr>
                        <m:t>𝑝</m:t>
                      </m:r>
                      <m:r>
                        <m:rPr/>
                        <a:rPr lang="en-US" b="0" i="1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b="0" i="1">
                          <a:latin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</a:rPr>
                        <m:t>𝑞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b="0" i="1">
                          <a:latin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</a:rPr>
                        <m:t>𝑞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b="0" i="1">
                          <a:latin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</a:rPr>
                        <m:t>(</m:t>
                      </m:r>
                      <m:r>
                        <m:rPr/>
                        <a:rPr lang="en-US" b="0" i="1">
                          <a:latin typeface="Cambria Math"/>
                        </a:rPr>
                        <m:t>𝑝</m:t>
                      </m:r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b="0" i="1">
                          <a:latin typeface="Cambria Math"/>
                        </a:rPr>
                        <m:t>𝑞</m:t>
                      </m:r>
                      <m:r>
                        <m:rPr/>
                        <a:rPr lang="en-US" b="0" i="1">
                          <a:latin typeface="Cambria Math"/>
                        </a:rPr>
                        <m:t>))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 marL="457200" indent="-457200">
              <a:buAutoNum type="arabicParenR"/>
              <a:defRPr/>
            </a:pPr>
            <a:r>
              <a:rPr lang="en-US" b="0">
                <a:ea typeface="Cambri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b="0" i="0">
                          <a:latin typeface="Cambria Math"/>
                          <a:ea typeface="Cambria Math"/>
                        </a:rPr>
                        <m:t>(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𝑞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𝑝</m:t>
                      </m:r>
                      <m:r>
                        <m:rPr/>
                        <a:rPr lang="ru-RU" b="0" i="1">
                          <a:latin typeface="Cambria Math"/>
                          <a:ea typeface="Cambria Math"/>
                        </a:rPr>
                        <m:t>)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 (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𝑞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𝑞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  <a:ea typeface="Cambria Math"/>
            </a:endParaRPr>
          </a:p>
          <a:p>
            <a:pPr marL="457200" indent="-457200">
              <a:buFont typeface="Arial"/>
              <a:buAutoNum type="arabicParenR"/>
              <a:defRPr/>
            </a:pPr>
            <a:r>
              <a:rPr lang="en-US">
                <a:ea typeface="Cambri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b="0" i="0">
                          <a:latin typeface="Cambria Math"/>
                          <a:ea typeface="Cambria Math"/>
                        </a:rPr>
                        <m:t>(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𝑝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𝑝</m:t>
                      </m:r>
                      <m:r>
                        <m:rPr/>
                        <a:rPr lang="ru-RU" b="0" i="1">
                          <a:latin typeface="Cambria Math"/>
                          <a:ea typeface="Cambria Math"/>
                        </a:rPr>
                        <m:t>)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 (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𝑝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𝑝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>
                <a:latin typeface="Cambria Math"/>
                <a:ea typeface="Cambria Math"/>
              </a:rPr>
              <a:t> (2 </a:t>
            </a:r>
            <a:r>
              <a:rPr lang="ru-RU">
                <a:latin typeface="Cambria Math"/>
                <a:ea typeface="Cambria Math"/>
              </a:rPr>
              <a:t>способа</a:t>
            </a:r>
            <a:r>
              <a:rPr lang="en-US">
                <a:latin typeface="Cambria Math"/>
                <a:ea typeface="Cambria Math"/>
              </a:rPr>
              <a:t>)</a:t>
            </a:r>
            <a:endParaRPr lang="en-US">
              <a:latin typeface="Cambria Math"/>
              <a:ea typeface="Cambria Math"/>
            </a:endParaRPr>
          </a:p>
          <a:p>
            <a:pPr marL="457200" indent="-457200">
              <a:buFont typeface="Arial"/>
              <a:buAutoNum type="arabicParenR"/>
              <a:defRPr/>
            </a:pPr>
            <a:r>
              <a:rPr lang="en-US">
                <a:ea typeface="Cambri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b="0" i="0">
                          <a:latin typeface="Cambria Math"/>
                          <a:ea typeface="Cambria Math"/>
                        </a:rPr>
                        <m:t>(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𝑓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𝑓</m:t>
                      </m:r>
                      <m:r>
                        <m:rPr/>
                        <a:rPr lang="ru-RU" b="0" i="1">
                          <a:latin typeface="Cambria Math"/>
                          <a:ea typeface="Cambria Math"/>
                        </a:rPr>
                        <m:t>)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 (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𝑝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 ⊃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 (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𝑝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𝑝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))</m:t>
                      </m:r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  <a:ea typeface="Cambria Math"/>
            </a:endParaRPr>
          </a:p>
          <a:p>
            <a:pPr marL="457200" indent="-457200">
              <a:buFont typeface="Arial"/>
              <a:buAutoNum type="arabicParenR"/>
              <a:defRPr/>
            </a:pPr>
            <a:r>
              <a:rPr lang="en-US">
                <a:ea typeface="Cambri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𝑟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>
                          <m:nor m:val="on"/>
                        </m:rPr>
                        <a:rPr lang="ru-RU" b="0" i="0">
                          <a:latin typeface="Cambria Math"/>
                          <a:ea typeface="Cambria Math"/>
                        </a:rPr>
                        <m:t>(</m:t>
                      </m:r>
                      <m:d>
                        <m:dPr>
                          <m:ctrlPr>
                            <a:rPr lang="en-US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b="0" i="1">
                              <a:latin typeface="Cambria Math"/>
                              <a:ea typeface="Cambria Math"/>
                            </a:rPr>
                            <m:t>𝑝</m:t>
                          </m:r>
                          <m:r>
                            <m:rPr>
                              <m:nor m:val="on"/>
                            </m:rPr>
                            <a:rPr lang="en-US">
                              <a:latin typeface="Cambria Math"/>
                              <a:ea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  <m:r>
                                <m:rPr>
                                  <m:nor m:val="on"/>
                                </m:rPr>
                                <a:rPr lang="en-US">
                                  <a:latin typeface="Cambria Math"/>
                                  <a:ea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 ((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𝑝</m:t>
                      </m:r>
                      <m:r>
                        <m:rPr/>
                        <a:rPr lang="en-US" b="0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𝑞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)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 (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𝑝</m:t>
                      </m:r>
                      <m:r>
                        <m:rPr>
                          <m:nor m:val="on"/>
                        </m:rPr>
                        <a:rPr lang="en-US">
                          <a:latin typeface="Cambria Math"/>
                          <a:ea typeface="Cambria Math"/>
                        </a:rPr>
                        <m:t>⊃</m:t>
                      </m:r>
                      <m:r>
                        <m:rPr/>
                        <a:rPr lang="en-US" i="1">
                          <a:latin typeface="Cambria Math"/>
                          <a:ea typeface="Cambria Math"/>
                        </a:rPr>
                        <m:t>𝑠</m:t>
                      </m:r>
                      <m:r>
                        <m:rPr>
                          <m:nor m:val="on"/>
                        </m:rPr>
                        <a:rPr lang="en-US" b="0" i="0">
                          <a:latin typeface="Cambria Math"/>
                          <a:ea typeface="Cambria Math"/>
                        </a:rPr>
                        <m:t>))</m:t>
                      </m:r>
                      <m:r>
                        <m:rPr>
                          <m:nor m:val="on"/>
                        </m:rPr>
                        <a:rPr lang="ru-RU" b="0" i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 b="0">
              <a:ea typeface="Cambria Math"/>
            </a:endParaRP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EAB684-4F96-46EF-8977-696EED0182AE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НИЯУ МИФИ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B75BCF-D9A1-4E27-B964-6A5D3CBB550C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 bwMode="auto">
          <a:xfrm>
            <a:off x="1097280" y="25784"/>
            <a:ext cx="10058400" cy="3566160"/>
          </a:xfrm>
        </p:spPr>
        <p:txBody>
          <a:bodyPr/>
          <a:lstStyle/>
          <a:p>
            <a:pPr algn="ctr">
              <a:defRPr/>
            </a:pPr>
            <a:r>
              <a:rPr lang="ru-RU"/>
              <a:t>Спасибо за внимание!</a:t>
            </a:r>
            <a:endParaRPr lang="ru-RU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Ретро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Ретро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Ретро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TM02900769[[fn=Ретро]]</Template>
  <TotalTime>0</TotalTime>
  <Words>0</Words>
  <Application>R7-Office/2024.1.1.375</Application>
  <DocSecurity>0</DocSecurity>
  <PresentationFormat>Широкоэкранный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по теме  «Разработка системы семантических признаков, пригодных для создания средств управления навигацией и моделизированных средств отладки»</dc:title>
  <dc:subject/>
  <dc:creator>Vlad</dc:creator>
  <cp:keywords/>
  <dc:description/>
  <dc:identifier/>
  <dc:language/>
  <cp:lastModifiedBy>В. Зайцев</cp:lastModifiedBy>
  <cp:revision>377</cp:revision>
  <dcterms:created xsi:type="dcterms:W3CDTF">2020-03-04T20:21:41Z</dcterms:created>
  <dcterms:modified xsi:type="dcterms:W3CDTF">2026-09-15T07:32:04Z</dcterms:modified>
  <cp:category/>
  <cp:contentStatus/>
  <cp:version/>
</cp:coreProperties>
</file>